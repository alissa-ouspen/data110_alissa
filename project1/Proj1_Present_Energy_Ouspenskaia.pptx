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1"/>
  </p:sldMasterIdLst>
  <p:notesMasterIdLst>
    <p:notesMasterId r:id="rId17"/>
  </p:notesMasterIdLst>
  <p:sldIdLst>
    <p:sldId id="256" r:id="rId2"/>
    <p:sldId id="258" r:id="rId3"/>
    <p:sldId id="259" r:id="rId4"/>
    <p:sldId id="261" r:id="rId5"/>
    <p:sldId id="264" r:id="rId6"/>
    <p:sldId id="270" r:id="rId7"/>
    <p:sldId id="265" r:id="rId8"/>
    <p:sldId id="269" r:id="rId9"/>
    <p:sldId id="266" r:id="rId10"/>
    <p:sldId id="267" r:id="rId11"/>
    <p:sldId id="262" r:id="rId12"/>
    <p:sldId id="271" r:id="rId13"/>
    <p:sldId id="272" r:id="rId14"/>
    <p:sldId id="260"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8"/>
    <p:restoredTop sz="76891"/>
  </p:normalViewPr>
  <p:slideViewPr>
    <p:cSldViewPr snapToGrid="0">
      <p:cViewPr varScale="1">
        <p:scale>
          <a:sx n="112" d="100"/>
          <a:sy n="112" d="100"/>
        </p:scale>
        <p:origin x="1336" y="20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A4829-75DB-8043-86C0-4BF09ABC0866}" type="datetimeFigureOut">
              <a:rPr lang="en-US" smtClean="0"/>
              <a:t>10/28/26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F17CF-9CB7-1F41-9F3B-9D2A483692EC}" type="slidenum">
              <a:rPr lang="en-US" smtClean="0"/>
              <a:t>‹#›</a:t>
            </a:fld>
            <a:endParaRPr lang="en-US"/>
          </a:p>
        </p:txBody>
      </p:sp>
    </p:spTree>
    <p:extLst>
      <p:ext uri="{BB962C8B-B14F-4D97-AF65-F5344CB8AC3E}">
        <p14:creationId xmlns:p14="http://schemas.microsoft.com/office/powerpoint/2010/main" val="246278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3F17CF-9CB7-1F41-9F3B-9D2A483692EC}" type="slidenum">
              <a:rPr lang="en-US" smtClean="0"/>
              <a:t>1</a:t>
            </a:fld>
            <a:endParaRPr lang="en-US"/>
          </a:p>
        </p:txBody>
      </p:sp>
    </p:spTree>
    <p:extLst>
      <p:ext uri="{BB962C8B-B14F-4D97-AF65-F5344CB8AC3E}">
        <p14:creationId xmlns:p14="http://schemas.microsoft.com/office/powerpoint/2010/main" val="1613639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baseline="0" dirty="0">
                <a:solidFill>
                  <a:srgbClr val="E3E3E3"/>
                </a:solidFill>
                <a:effectLst/>
                <a:latin typeface="Google Sans Text"/>
              </a:rPr>
              <a:t>Measuring and comparing a building’s energy use to similar buildings, past consumption,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baseline="0" dirty="0">
                <a:solidFill>
                  <a:srgbClr val="E3E3E3"/>
                </a:solidFill>
                <a:effectLst/>
                <a:latin typeface="Google Sans Text"/>
              </a:rPr>
              <a:t>or a reference performance level.</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800" baseline="0" dirty="0"/>
          </a:p>
        </p:txBody>
      </p:sp>
      <p:sp>
        <p:nvSpPr>
          <p:cNvPr id="4" name="Slide Number Placeholder 3"/>
          <p:cNvSpPr>
            <a:spLocks noGrp="1"/>
          </p:cNvSpPr>
          <p:nvPr>
            <p:ph type="sldNum" sz="quarter" idx="5"/>
          </p:nvPr>
        </p:nvSpPr>
        <p:spPr/>
        <p:txBody>
          <a:bodyPr/>
          <a:lstStyle/>
          <a:p>
            <a:fld id="{433F17CF-9CB7-1F41-9F3B-9D2A483692EC}" type="slidenum">
              <a:rPr lang="en-US" smtClean="0"/>
              <a:t>3</a:t>
            </a:fld>
            <a:endParaRPr lang="en-US"/>
          </a:p>
        </p:txBody>
      </p:sp>
    </p:spTree>
    <p:extLst>
      <p:ext uri="{BB962C8B-B14F-4D97-AF65-F5344CB8AC3E}">
        <p14:creationId xmlns:p14="http://schemas.microsoft.com/office/powerpoint/2010/main" val="2176010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Entries had missing ID numbers and addresses, but most had electricity use,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floor area, and Total GHG Emissions</a:t>
            </a:r>
          </a:p>
          <a:p>
            <a:endParaRPr lang="en-US" dirty="0"/>
          </a:p>
        </p:txBody>
      </p:sp>
      <p:sp>
        <p:nvSpPr>
          <p:cNvPr id="4" name="Slide Number Placeholder 3"/>
          <p:cNvSpPr>
            <a:spLocks noGrp="1"/>
          </p:cNvSpPr>
          <p:nvPr>
            <p:ph type="sldNum" sz="quarter" idx="5"/>
          </p:nvPr>
        </p:nvSpPr>
        <p:spPr/>
        <p:txBody>
          <a:bodyPr/>
          <a:lstStyle/>
          <a:p>
            <a:fld id="{433F17CF-9CB7-1F41-9F3B-9D2A483692EC}" type="slidenum">
              <a:rPr lang="en-US" smtClean="0"/>
              <a:t>4</a:t>
            </a:fld>
            <a:endParaRPr lang="en-US"/>
          </a:p>
        </p:txBody>
      </p:sp>
    </p:spTree>
    <p:extLst>
      <p:ext uri="{BB962C8B-B14F-4D97-AF65-F5344CB8AC3E}">
        <p14:creationId xmlns:p14="http://schemas.microsoft.com/office/powerpoint/2010/main" val="1047691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81B58-F2C0-5F64-297C-0DE2E14A1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6CA9B-9882-EAEC-F1BB-F0611BDC2B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DABCC8-A7D4-0158-1A3F-146D53CBF8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effectLst/>
                <a:latin typeface="+mn-lt"/>
                <a:ea typeface="+mn-ea"/>
                <a:cs typeface="+mn-cs"/>
              </a:rPr>
              <a:t>Note NaN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effectLst/>
                <a:latin typeface="+mn-lt"/>
                <a:ea typeface="+mn-ea"/>
                <a:cs typeface="+mn-cs"/>
              </a:rPr>
              <a:t>Other: supermarket or grocery store, retail store, senior living community,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effectLst/>
                <a:latin typeface="+mn-lt"/>
                <a:ea typeface="+mn-ea"/>
                <a:cs typeface="+mn-cs"/>
              </a:rPr>
              <a:t>car dealership, mixed use property, laboratory, strip mall</a:t>
            </a:r>
          </a:p>
          <a:p>
            <a:endParaRPr lang="en-US" dirty="0"/>
          </a:p>
        </p:txBody>
      </p:sp>
      <p:sp>
        <p:nvSpPr>
          <p:cNvPr id="4" name="Slide Number Placeholder 3">
            <a:extLst>
              <a:ext uri="{FF2B5EF4-FFF2-40B4-BE49-F238E27FC236}">
                <a16:creationId xmlns:a16="http://schemas.microsoft.com/office/drawing/2014/main" id="{D9789977-CF80-83E4-5426-4E6624C14130}"/>
              </a:ext>
            </a:extLst>
          </p:cNvPr>
          <p:cNvSpPr>
            <a:spLocks noGrp="1"/>
          </p:cNvSpPr>
          <p:nvPr>
            <p:ph type="sldNum" sz="quarter" idx="5"/>
          </p:nvPr>
        </p:nvSpPr>
        <p:spPr/>
        <p:txBody>
          <a:bodyPr/>
          <a:lstStyle/>
          <a:p>
            <a:fld id="{433F17CF-9CB7-1F41-9F3B-9D2A483692EC}" type="slidenum">
              <a:rPr lang="en-US" smtClean="0"/>
              <a:t>5</a:t>
            </a:fld>
            <a:endParaRPr lang="en-US"/>
          </a:p>
        </p:txBody>
      </p:sp>
    </p:spTree>
    <p:extLst>
      <p:ext uri="{BB962C8B-B14F-4D97-AF65-F5344CB8AC3E}">
        <p14:creationId xmlns:p14="http://schemas.microsoft.com/office/powerpoint/2010/main" val="1199720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6714-2614-03CA-F8EA-8D68C004F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C2F13-0E02-E455-7D7D-4B078092AD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A9533F-8C91-DD49-0CED-086AE0451D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Energy Star: 1–100 score, which rates energy performance in comparison to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similar buildings across the country</a:t>
            </a:r>
          </a:p>
          <a:p>
            <a:endParaRPr lang="en-US" dirty="0"/>
          </a:p>
        </p:txBody>
      </p:sp>
      <p:sp>
        <p:nvSpPr>
          <p:cNvPr id="4" name="Slide Number Placeholder 3">
            <a:extLst>
              <a:ext uri="{FF2B5EF4-FFF2-40B4-BE49-F238E27FC236}">
                <a16:creationId xmlns:a16="http://schemas.microsoft.com/office/drawing/2014/main" id="{5089EDCE-B8FA-0803-53D8-4482E6A54600}"/>
              </a:ext>
            </a:extLst>
          </p:cNvPr>
          <p:cNvSpPr>
            <a:spLocks noGrp="1"/>
          </p:cNvSpPr>
          <p:nvPr>
            <p:ph type="sldNum" sz="quarter" idx="5"/>
          </p:nvPr>
        </p:nvSpPr>
        <p:spPr/>
        <p:txBody>
          <a:bodyPr/>
          <a:lstStyle/>
          <a:p>
            <a:fld id="{433F17CF-9CB7-1F41-9F3B-9D2A483692EC}" type="slidenum">
              <a:rPr lang="en-US" smtClean="0"/>
              <a:t>6</a:t>
            </a:fld>
            <a:endParaRPr lang="en-US"/>
          </a:p>
        </p:txBody>
      </p:sp>
    </p:spTree>
    <p:extLst>
      <p:ext uri="{BB962C8B-B14F-4D97-AF65-F5344CB8AC3E}">
        <p14:creationId xmlns:p14="http://schemas.microsoft.com/office/powerpoint/2010/main" val="1915196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3076F-B399-E750-32E6-26FDD43E8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41C61-190B-EA02-16CB-27F99A7BBA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8EC9B8-D46C-45A6-EA38-630A298479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Top 4 not counting “other” and NaN</a:t>
            </a:r>
          </a:p>
          <a:p>
            <a:endParaRPr lang="en-US" dirty="0"/>
          </a:p>
        </p:txBody>
      </p:sp>
      <p:sp>
        <p:nvSpPr>
          <p:cNvPr id="4" name="Slide Number Placeholder 3">
            <a:extLst>
              <a:ext uri="{FF2B5EF4-FFF2-40B4-BE49-F238E27FC236}">
                <a16:creationId xmlns:a16="http://schemas.microsoft.com/office/drawing/2014/main" id="{CC06AF48-692B-7D9D-854D-997E0371576B}"/>
              </a:ext>
            </a:extLst>
          </p:cNvPr>
          <p:cNvSpPr>
            <a:spLocks noGrp="1"/>
          </p:cNvSpPr>
          <p:nvPr>
            <p:ph type="sldNum" sz="quarter" idx="5"/>
          </p:nvPr>
        </p:nvSpPr>
        <p:spPr/>
        <p:txBody>
          <a:bodyPr/>
          <a:lstStyle/>
          <a:p>
            <a:fld id="{433F17CF-9CB7-1F41-9F3B-9D2A483692EC}" type="slidenum">
              <a:rPr lang="en-US" smtClean="0"/>
              <a:t>7</a:t>
            </a:fld>
            <a:endParaRPr lang="en-US"/>
          </a:p>
        </p:txBody>
      </p:sp>
    </p:spTree>
    <p:extLst>
      <p:ext uri="{BB962C8B-B14F-4D97-AF65-F5344CB8AC3E}">
        <p14:creationId xmlns:p14="http://schemas.microsoft.com/office/powerpoint/2010/main" val="4108911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41419-057A-315C-BAA0-7AD719E05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AB532-9254-A724-5F7A-FACE347634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8727C8-CCC9-7DE9-EED4-6B7DAFA630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Note that we need to add 6 or 7 zeros to the numbers.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Now will zoom in on the bottom– left corner for a better look.</a:t>
            </a:r>
          </a:p>
          <a:p>
            <a:endParaRPr lang="en-US" dirty="0"/>
          </a:p>
        </p:txBody>
      </p:sp>
      <p:sp>
        <p:nvSpPr>
          <p:cNvPr id="4" name="Slide Number Placeholder 3">
            <a:extLst>
              <a:ext uri="{FF2B5EF4-FFF2-40B4-BE49-F238E27FC236}">
                <a16:creationId xmlns:a16="http://schemas.microsoft.com/office/drawing/2014/main" id="{DC433C83-9FCB-FFF0-DB0E-BF8783D611AF}"/>
              </a:ext>
            </a:extLst>
          </p:cNvPr>
          <p:cNvSpPr>
            <a:spLocks noGrp="1"/>
          </p:cNvSpPr>
          <p:nvPr>
            <p:ph type="sldNum" sz="quarter" idx="5"/>
          </p:nvPr>
        </p:nvSpPr>
        <p:spPr/>
        <p:txBody>
          <a:bodyPr/>
          <a:lstStyle/>
          <a:p>
            <a:fld id="{433F17CF-9CB7-1F41-9F3B-9D2A483692EC}" type="slidenum">
              <a:rPr lang="en-US" smtClean="0"/>
              <a:t>8</a:t>
            </a:fld>
            <a:endParaRPr lang="en-US"/>
          </a:p>
        </p:txBody>
      </p:sp>
    </p:spTree>
    <p:extLst>
      <p:ext uri="{BB962C8B-B14F-4D97-AF65-F5344CB8AC3E}">
        <p14:creationId xmlns:p14="http://schemas.microsoft.com/office/powerpoint/2010/main" val="3219852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455B3-56E9-30A6-8B3E-7527E27BF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62415-9642-A50F-4A7A-69FCA3A3FA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64C5C8-6EA7-039A-6306-072AABF89EF4}"/>
              </a:ext>
            </a:extLst>
          </p:cNvPr>
          <p:cNvSpPr>
            <a:spLocks noGrp="1"/>
          </p:cNvSpPr>
          <p:nvPr>
            <p:ph type="body" idx="1"/>
          </p:nvPr>
        </p:nvSpPr>
        <p:spPr/>
        <p:txBody>
          <a:bodyPr/>
          <a:lstStyle/>
          <a:p>
            <a:r>
              <a:rPr lang="en-US" sz="2400" dirty="0"/>
              <a:t>Electricity use by floor area, zoomed – in bottom left corner</a:t>
            </a:r>
          </a:p>
        </p:txBody>
      </p:sp>
      <p:sp>
        <p:nvSpPr>
          <p:cNvPr id="4" name="Slide Number Placeholder 3">
            <a:extLst>
              <a:ext uri="{FF2B5EF4-FFF2-40B4-BE49-F238E27FC236}">
                <a16:creationId xmlns:a16="http://schemas.microsoft.com/office/drawing/2014/main" id="{F3A75914-7C41-9522-01EE-911D2D39F112}"/>
              </a:ext>
            </a:extLst>
          </p:cNvPr>
          <p:cNvSpPr>
            <a:spLocks noGrp="1"/>
          </p:cNvSpPr>
          <p:nvPr>
            <p:ph type="sldNum" sz="quarter" idx="5"/>
          </p:nvPr>
        </p:nvSpPr>
        <p:spPr/>
        <p:txBody>
          <a:bodyPr/>
          <a:lstStyle/>
          <a:p>
            <a:fld id="{433F17CF-9CB7-1F41-9F3B-9D2A483692EC}" type="slidenum">
              <a:rPr lang="en-US" smtClean="0"/>
              <a:t>9</a:t>
            </a:fld>
            <a:endParaRPr lang="en-US"/>
          </a:p>
        </p:txBody>
      </p:sp>
    </p:spTree>
    <p:extLst>
      <p:ext uri="{BB962C8B-B14F-4D97-AF65-F5344CB8AC3E}">
        <p14:creationId xmlns:p14="http://schemas.microsoft.com/office/powerpoint/2010/main" val="1165965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4D68D-1DA8-5F41-6745-89703CD34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4F896-C6B8-F4B8-C975-289106CD7F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68D968-2D3B-644E-2E8C-AB0A673A97D6}"/>
              </a:ext>
            </a:extLst>
          </p:cNvPr>
          <p:cNvSpPr>
            <a:spLocks noGrp="1"/>
          </p:cNvSpPr>
          <p:nvPr>
            <p:ph type="body" idx="1"/>
          </p:nvPr>
        </p:nvSpPr>
        <p:spPr/>
        <p:txBody>
          <a:bodyPr/>
          <a:lstStyle/>
          <a:p>
            <a:r>
              <a:rPr lang="en-US" sz="2400" dirty="0"/>
              <a:t>The British thermal unit (Btu) is a unit of measure of heat.  </a:t>
            </a:r>
          </a:p>
          <a:p>
            <a:endParaRPr lang="en-US" dirty="0"/>
          </a:p>
        </p:txBody>
      </p:sp>
      <p:sp>
        <p:nvSpPr>
          <p:cNvPr id="4" name="Slide Number Placeholder 3">
            <a:extLst>
              <a:ext uri="{FF2B5EF4-FFF2-40B4-BE49-F238E27FC236}">
                <a16:creationId xmlns:a16="http://schemas.microsoft.com/office/drawing/2014/main" id="{AF7131A2-9F55-3AE3-D0C0-E5B29A651238}"/>
              </a:ext>
            </a:extLst>
          </p:cNvPr>
          <p:cNvSpPr>
            <a:spLocks noGrp="1"/>
          </p:cNvSpPr>
          <p:nvPr>
            <p:ph type="sldNum" sz="quarter" idx="5"/>
          </p:nvPr>
        </p:nvSpPr>
        <p:spPr/>
        <p:txBody>
          <a:bodyPr/>
          <a:lstStyle/>
          <a:p>
            <a:fld id="{433F17CF-9CB7-1F41-9F3B-9D2A483692EC}" type="slidenum">
              <a:rPr lang="en-US" smtClean="0"/>
              <a:t>10</a:t>
            </a:fld>
            <a:endParaRPr lang="en-US"/>
          </a:p>
        </p:txBody>
      </p:sp>
    </p:spTree>
    <p:extLst>
      <p:ext uri="{BB962C8B-B14F-4D97-AF65-F5344CB8AC3E}">
        <p14:creationId xmlns:p14="http://schemas.microsoft.com/office/powerpoint/2010/main" val="4241986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E1214-5F3E-9995-79BE-E6910CE01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48E3D-8485-A512-4944-E95C45EA18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EAF338-312B-2C77-D02A-B086C3AEBD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Surprising finding (or lack thereof):</a:t>
            </a:r>
          </a:p>
        </p:txBody>
      </p:sp>
      <p:sp>
        <p:nvSpPr>
          <p:cNvPr id="4" name="Slide Number Placeholder 3">
            <a:extLst>
              <a:ext uri="{FF2B5EF4-FFF2-40B4-BE49-F238E27FC236}">
                <a16:creationId xmlns:a16="http://schemas.microsoft.com/office/drawing/2014/main" id="{C69737AA-B41B-5DCC-44C0-A16D648C25FF}"/>
              </a:ext>
            </a:extLst>
          </p:cNvPr>
          <p:cNvSpPr>
            <a:spLocks noGrp="1"/>
          </p:cNvSpPr>
          <p:nvPr>
            <p:ph type="sldNum" sz="quarter" idx="5"/>
          </p:nvPr>
        </p:nvSpPr>
        <p:spPr/>
        <p:txBody>
          <a:bodyPr/>
          <a:lstStyle/>
          <a:p>
            <a:fld id="{433F17CF-9CB7-1F41-9F3B-9D2A483692EC}" type="slidenum">
              <a:rPr lang="en-US" smtClean="0"/>
              <a:t>11</a:t>
            </a:fld>
            <a:endParaRPr lang="en-US"/>
          </a:p>
        </p:txBody>
      </p:sp>
    </p:spTree>
    <p:extLst>
      <p:ext uri="{BB962C8B-B14F-4D97-AF65-F5344CB8AC3E}">
        <p14:creationId xmlns:p14="http://schemas.microsoft.com/office/powerpoint/2010/main" val="110592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07FA-8AE5-E9F6-1069-145D0D9666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B54F5-C0AB-D143-AE1E-BF0C50E647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0A196C-2C81-A3A0-2EF7-1981F81B37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Building age vs. Total GHG emissions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Building age vs. ENERGY STAR score</a:t>
            </a:r>
          </a:p>
          <a:p>
            <a:r>
              <a:rPr lang="en-US" sz="2400" dirty="0"/>
              <a:t>ENERGY STAR score vs. Total GHG emissions</a:t>
            </a:r>
          </a:p>
          <a:p>
            <a:endParaRPr lang="en-US" dirty="0"/>
          </a:p>
        </p:txBody>
      </p:sp>
      <p:sp>
        <p:nvSpPr>
          <p:cNvPr id="4" name="Slide Number Placeholder 3">
            <a:extLst>
              <a:ext uri="{FF2B5EF4-FFF2-40B4-BE49-F238E27FC236}">
                <a16:creationId xmlns:a16="http://schemas.microsoft.com/office/drawing/2014/main" id="{A8B4F0A0-381B-0EA6-C4C3-C0B8729E15CC}"/>
              </a:ext>
            </a:extLst>
          </p:cNvPr>
          <p:cNvSpPr>
            <a:spLocks noGrp="1"/>
          </p:cNvSpPr>
          <p:nvPr>
            <p:ph type="sldNum" sz="quarter" idx="5"/>
          </p:nvPr>
        </p:nvSpPr>
        <p:spPr/>
        <p:txBody>
          <a:bodyPr/>
          <a:lstStyle/>
          <a:p>
            <a:fld id="{433F17CF-9CB7-1F41-9F3B-9D2A483692EC}" type="slidenum">
              <a:rPr lang="en-US" smtClean="0"/>
              <a:t>12</a:t>
            </a:fld>
            <a:endParaRPr lang="en-US"/>
          </a:p>
        </p:txBody>
      </p:sp>
    </p:spTree>
    <p:extLst>
      <p:ext uri="{BB962C8B-B14F-4D97-AF65-F5344CB8AC3E}">
        <p14:creationId xmlns:p14="http://schemas.microsoft.com/office/powerpoint/2010/main" val="3796668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76ABE-6ABC-DE4D-97F5-42A6D41FC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9C783-E0DE-C92E-BCCA-04BC44D776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12D916-E139-2405-F69B-1119D10CB276}"/>
              </a:ext>
            </a:extLst>
          </p:cNvPr>
          <p:cNvSpPr>
            <a:spLocks noGrp="1"/>
          </p:cNvSpPr>
          <p:nvPr>
            <p:ph type="body" idx="1"/>
          </p:nvPr>
        </p:nvSpPr>
        <p:spPr/>
        <p:txBody>
          <a:bodyPr/>
          <a:lstStyle/>
          <a:p>
            <a:r>
              <a:rPr lang="en-US" sz="2400" dirty="0"/>
              <a:t>Hopefully, 2024 data will be published soon. </a:t>
            </a:r>
          </a:p>
        </p:txBody>
      </p:sp>
      <p:sp>
        <p:nvSpPr>
          <p:cNvPr id="4" name="Slide Number Placeholder 3">
            <a:extLst>
              <a:ext uri="{FF2B5EF4-FFF2-40B4-BE49-F238E27FC236}">
                <a16:creationId xmlns:a16="http://schemas.microsoft.com/office/drawing/2014/main" id="{DAEB131F-72CD-995C-8CEA-AC6F94DBD9A3}"/>
              </a:ext>
            </a:extLst>
          </p:cNvPr>
          <p:cNvSpPr>
            <a:spLocks noGrp="1"/>
          </p:cNvSpPr>
          <p:nvPr>
            <p:ph type="sldNum" sz="quarter" idx="5"/>
          </p:nvPr>
        </p:nvSpPr>
        <p:spPr/>
        <p:txBody>
          <a:bodyPr/>
          <a:lstStyle/>
          <a:p>
            <a:fld id="{433F17CF-9CB7-1F41-9F3B-9D2A483692EC}" type="slidenum">
              <a:rPr lang="en-US" smtClean="0"/>
              <a:t>13</a:t>
            </a:fld>
            <a:endParaRPr lang="en-US"/>
          </a:p>
        </p:txBody>
      </p:sp>
    </p:spTree>
    <p:extLst>
      <p:ext uri="{BB962C8B-B14F-4D97-AF65-F5344CB8AC3E}">
        <p14:creationId xmlns:p14="http://schemas.microsoft.com/office/powerpoint/2010/main" val="2577332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3F17CF-9CB7-1F41-9F3B-9D2A483692EC}" type="slidenum">
              <a:rPr lang="en-US" smtClean="0"/>
              <a:t>14</a:t>
            </a:fld>
            <a:endParaRPr lang="en-US"/>
          </a:p>
        </p:txBody>
      </p:sp>
    </p:spTree>
    <p:extLst>
      <p:ext uri="{BB962C8B-B14F-4D97-AF65-F5344CB8AC3E}">
        <p14:creationId xmlns:p14="http://schemas.microsoft.com/office/powerpoint/2010/main" val="3353820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E6ABC-25EA-83F5-C2E5-D51BD39A9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D8DD14-301C-7BC0-08A5-D3346DC24E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BE2E3C-2D4D-F044-A5C4-C00E6858E4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2A0D8-AB80-56E6-1EA0-8F97654EFEA7}"/>
              </a:ext>
            </a:extLst>
          </p:cNvPr>
          <p:cNvSpPr>
            <a:spLocks noGrp="1"/>
          </p:cNvSpPr>
          <p:nvPr>
            <p:ph type="sldNum" sz="quarter" idx="5"/>
          </p:nvPr>
        </p:nvSpPr>
        <p:spPr/>
        <p:txBody>
          <a:bodyPr/>
          <a:lstStyle/>
          <a:p>
            <a:fld id="{433F17CF-9CB7-1F41-9F3B-9D2A483692EC}" type="slidenum">
              <a:rPr lang="en-US" smtClean="0"/>
              <a:t>15</a:t>
            </a:fld>
            <a:endParaRPr lang="en-US"/>
          </a:p>
        </p:txBody>
      </p:sp>
    </p:spTree>
    <p:extLst>
      <p:ext uri="{BB962C8B-B14F-4D97-AF65-F5344CB8AC3E}">
        <p14:creationId xmlns:p14="http://schemas.microsoft.com/office/powerpoint/2010/main" val="4676935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165503B2-06EC-FA4E-8244-7D5DAC25D9EF}" type="slidenum">
              <a:rPr lang="en-US" smtClean="0"/>
              <a:t>‹#›</a:t>
            </a:fld>
            <a:endParaRPr lang="en-US"/>
          </a:p>
        </p:txBody>
      </p:sp>
    </p:spTree>
    <p:extLst>
      <p:ext uri="{BB962C8B-B14F-4D97-AF65-F5344CB8AC3E}">
        <p14:creationId xmlns:p14="http://schemas.microsoft.com/office/powerpoint/2010/main" val="32809421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2487875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165503B2-06EC-FA4E-8244-7D5DAC25D9EF}" type="slidenum">
              <a:rPr lang="en-US" smtClean="0"/>
              <a:t>‹#›</a:t>
            </a:fld>
            <a:endParaRPr lang="en-US"/>
          </a:p>
        </p:txBody>
      </p:sp>
    </p:spTree>
    <p:extLst>
      <p:ext uri="{BB962C8B-B14F-4D97-AF65-F5344CB8AC3E}">
        <p14:creationId xmlns:p14="http://schemas.microsoft.com/office/powerpoint/2010/main" val="3119882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165503B2-06EC-FA4E-8244-7D5DAC25D9EF}" type="slidenum">
              <a:rPr lang="en-US" smtClean="0"/>
              <a:t>‹#›</a:t>
            </a:fld>
            <a:endParaRPr lang="en-US"/>
          </a:p>
        </p:txBody>
      </p:sp>
    </p:spTree>
    <p:extLst>
      <p:ext uri="{BB962C8B-B14F-4D97-AF65-F5344CB8AC3E}">
        <p14:creationId xmlns:p14="http://schemas.microsoft.com/office/powerpoint/2010/main" val="866054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165503B2-06EC-FA4E-8244-7D5DAC25D9EF}" type="slidenum">
              <a:rPr lang="en-US" smtClean="0"/>
              <a:t>‹#›</a:t>
            </a:fld>
            <a:endParaRPr lang="en-US"/>
          </a:p>
        </p:txBody>
      </p:sp>
    </p:spTree>
    <p:extLst>
      <p:ext uri="{BB962C8B-B14F-4D97-AF65-F5344CB8AC3E}">
        <p14:creationId xmlns:p14="http://schemas.microsoft.com/office/powerpoint/2010/main" val="359096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4251403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244869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4099688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717084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566823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3963425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165503B2-06EC-FA4E-8244-7D5DAC25D9EF}"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909516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165503B2-06EC-FA4E-8244-7D5DAC25D9EF}"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257514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165503B2-06EC-FA4E-8244-7D5DAC25D9EF}" type="slidenum">
              <a:rPr lang="en-US" smtClean="0"/>
              <a:t>‹#›</a:t>
            </a:fld>
            <a:endParaRPr lang="en-US"/>
          </a:p>
        </p:txBody>
      </p:sp>
    </p:spTree>
    <p:extLst>
      <p:ext uri="{BB962C8B-B14F-4D97-AF65-F5344CB8AC3E}">
        <p14:creationId xmlns:p14="http://schemas.microsoft.com/office/powerpoint/2010/main" val="2144735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610393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165503B2-06EC-FA4E-8244-7D5DAC25D9EF}"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005573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165503B2-06EC-FA4E-8244-7D5DAC25D9EF}"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191008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2396923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20707020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24697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1685724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1810168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4540955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3065524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14516394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15272596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65503B2-06EC-FA4E-8244-7D5DAC25D9EF}" type="slidenum">
              <a:rPr lang="en-US" smtClean="0"/>
              <a:t>‹#›</a:t>
            </a:fld>
            <a:endParaRPr lang="en-US"/>
          </a:p>
        </p:txBody>
      </p:sp>
    </p:spTree>
    <p:extLst>
      <p:ext uri="{BB962C8B-B14F-4D97-AF65-F5344CB8AC3E}">
        <p14:creationId xmlns:p14="http://schemas.microsoft.com/office/powerpoint/2010/main" val="1425388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6F59BDEC-77CC-A342-AD24-B13DCCA807FE}" type="datetimeFigureOut">
              <a:rPr lang="en-US" smtClean="0"/>
              <a:t>10/28/26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165503B2-06EC-FA4E-8244-7D5DAC25D9EF}" type="slidenum">
              <a:rPr lang="en-US" smtClean="0"/>
              <a:t>‹#›</a:t>
            </a:fld>
            <a:endParaRPr lang="en-US"/>
          </a:p>
        </p:txBody>
      </p:sp>
    </p:spTree>
    <p:extLst>
      <p:ext uri="{BB962C8B-B14F-4D97-AF65-F5344CB8AC3E}">
        <p14:creationId xmlns:p14="http://schemas.microsoft.com/office/powerpoint/2010/main" val="37066928"/>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80" r:id="rId18"/>
    <p:sldLayoutId id="2147483781" r:id="rId19"/>
    <p:sldLayoutId id="2147483782" r:id="rId20"/>
    <p:sldLayoutId id="2147483783" r:id="rId21"/>
    <p:sldLayoutId id="2147483784" r:id="rId22"/>
    <p:sldLayoutId id="2147483785" r:id="rId23"/>
    <p:sldLayoutId id="2147483786" r:id="rId24"/>
    <p:sldLayoutId id="2147483787" r:id="rId25"/>
    <p:sldLayoutId id="2147483788" r:id="rId26"/>
    <p:sldLayoutId id="2147483789" r:id="rId27"/>
  </p:sldLayoutIdLst>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hyperlink" Target="https://data.montgomerycountymd.gov/" TargetMode="Externa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hyperlink" Target="https://data.montgomerycountymd.gov/Environment/2023-Energy-Benchmarking-All-Sites/ensr-8pr2/about_data" TargetMode="External"/><Relationship Id="rId2" Type="http://schemas.openxmlformats.org/officeDocument/2006/relationships/notesSlide" Target="../notesSlides/notesSlide13.xml"/><Relationship Id="rId1" Type="http://schemas.openxmlformats.org/officeDocument/2006/relationships/slideLayout" Target="../slideLayouts/slideLayout24.xml"/><Relationship Id="rId4" Type="http://schemas.openxmlformats.org/officeDocument/2006/relationships/hyperlink" Target="https://www.energystar.gov/buildings/benchmark"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AD69E-5616-773B-41D6-8588CF78ECB9}"/>
              </a:ext>
            </a:extLst>
          </p:cNvPr>
          <p:cNvSpPr>
            <a:spLocks noGrp="1"/>
          </p:cNvSpPr>
          <p:nvPr>
            <p:ph type="ctrTitle"/>
          </p:nvPr>
        </p:nvSpPr>
        <p:spPr>
          <a:xfrm>
            <a:off x="451821" y="451821"/>
            <a:ext cx="11521440" cy="1731981"/>
          </a:xfrm>
        </p:spPr>
        <p:txBody>
          <a:bodyPr>
            <a:normAutofit/>
          </a:bodyPr>
          <a:lstStyle/>
          <a:p>
            <a:r>
              <a:rPr lang="en-US" sz="4400" dirty="0">
                <a:solidFill>
                  <a:schemeClr val="tx1"/>
                </a:solidFill>
              </a:rPr>
              <a:t>Which types of buildings in Montgomery County are Energy – Efficient?</a:t>
            </a:r>
            <a:endParaRPr lang="en-US" dirty="0">
              <a:solidFill>
                <a:schemeClr val="tx1"/>
              </a:solidFill>
            </a:endParaRPr>
          </a:p>
        </p:txBody>
      </p:sp>
      <p:sp>
        <p:nvSpPr>
          <p:cNvPr id="3" name="Subtitle 2">
            <a:extLst>
              <a:ext uri="{FF2B5EF4-FFF2-40B4-BE49-F238E27FC236}">
                <a16:creationId xmlns:a16="http://schemas.microsoft.com/office/drawing/2014/main" id="{72AA8659-6ECA-212D-113C-5541319575E9}"/>
              </a:ext>
            </a:extLst>
          </p:cNvPr>
          <p:cNvSpPr>
            <a:spLocks noGrp="1"/>
          </p:cNvSpPr>
          <p:nvPr>
            <p:ph type="subTitle" idx="1"/>
          </p:nvPr>
        </p:nvSpPr>
        <p:spPr>
          <a:xfrm>
            <a:off x="2420471" y="2635625"/>
            <a:ext cx="7691717" cy="3227294"/>
          </a:xfrm>
        </p:spPr>
        <p:txBody>
          <a:bodyPr>
            <a:normAutofit/>
          </a:bodyPr>
          <a:lstStyle/>
          <a:p>
            <a:r>
              <a:rPr lang="en-US" sz="3200" dirty="0">
                <a:solidFill>
                  <a:schemeClr val="tx1"/>
                </a:solidFill>
              </a:rPr>
              <a:t>Alissa Ouspenskaia</a:t>
            </a:r>
          </a:p>
          <a:p>
            <a:r>
              <a:rPr lang="en-US" sz="3200" dirty="0">
                <a:solidFill>
                  <a:schemeClr val="tx1"/>
                </a:solidFill>
              </a:rPr>
              <a:t>DATA 110 </a:t>
            </a:r>
          </a:p>
          <a:p>
            <a:r>
              <a:rPr lang="en-US" sz="3200" dirty="0">
                <a:solidFill>
                  <a:schemeClr val="tx1"/>
                </a:solidFill>
              </a:rPr>
              <a:t>Montgomery College, Fall 2026</a:t>
            </a:r>
          </a:p>
          <a:p>
            <a:endParaRPr lang="en-US" sz="3200" dirty="0">
              <a:solidFill>
                <a:schemeClr val="tx1"/>
              </a:solidFill>
            </a:endParaRPr>
          </a:p>
        </p:txBody>
      </p:sp>
    </p:spTree>
    <p:extLst>
      <p:ext uri="{BB962C8B-B14F-4D97-AF65-F5344CB8AC3E}">
        <p14:creationId xmlns:p14="http://schemas.microsoft.com/office/powerpoint/2010/main" val="1631331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42455B7-AC97-EAC1-0816-7CEF95362226}"/>
              </a:ext>
            </a:extLst>
          </p:cNvPr>
          <p:cNvSpPr>
            <a:spLocks noGrp="1"/>
          </p:cNvSpPr>
          <p:nvPr>
            <p:ph type="title"/>
          </p:nvPr>
        </p:nvSpPr>
        <p:spPr>
          <a:xfrm>
            <a:off x="217170" y="1213866"/>
            <a:ext cx="10835640" cy="969264"/>
          </a:xfrm>
        </p:spPr>
        <p:txBody>
          <a:bodyPr>
            <a:normAutofit/>
          </a:bodyPr>
          <a:lstStyle/>
          <a:p>
            <a:r>
              <a:rPr lang="en-US" sz="3200" dirty="0"/>
              <a:t>Source Dataset:</a:t>
            </a:r>
          </a:p>
        </p:txBody>
      </p:sp>
      <p:sp>
        <p:nvSpPr>
          <p:cNvPr id="3" name="TextBox 2">
            <a:extLst>
              <a:ext uri="{FF2B5EF4-FFF2-40B4-BE49-F238E27FC236}">
                <a16:creationId xmlns:a16="http://schemas.microsoft.com/office/drawing/2014/main" id="{6D7B41C1-F479-119B-6FA0-B15CF19CB19B}"/>
              </a:ext>
            </a:extLst>
          </p:cNvPr>
          <p:cNvSpPr txBox="1"/>
          <p:nvPr/>
        </p:nvSpPr>
        <p:spPr>
          <a:xfrm>
            <a:off x="1330932" y="2626129"/>
            <a:ext cx="8127403" cy="2646878"/>
          </a:xfrm>
          <a:prstGeom prst="rect">
            <a:avLst/>
          </a:prstGeom>
          <a:noFill/>
        </p:spPr>
        <p:txBody>
          <a:bodyPr wrap="square">
            <a:spAutoFit/>
          </a:bodyPr>
          <a:lstStyle/>
          <a:p>
            <a:r>
              <a:rPr lang="en-US" sz="2800" dirty="0"/>
              <a:t>2023 Energy Benchmarking All Sites</a:t>
            </a:r>
          </a:p>
          <a:p>
            <a:endParaRPr lang="en-US" sz="2800" dirty="0"/>
          </a:p>
          <a:p>
            <a:endParaRPr lang="en-US" sz="2800" dirty="0"/>
          </a:p>
          <a:p>
            <a:r>
              <a:rPr lang="en-US" sz="2800" u="sng" dirty="0">
                <a:hlinkClick r:id="rId2">
                  <a:extLst>
                    <a:ext uri="{A12FA001-AC4F-418D-AE19-62706E023703}">
                      <ahyp:hlinkClr xmlns:ahyp="http://schemas.microsoft.com/office/drawing/2018/hyperlinkcolor" val="tx"/>
                    </a:ext>
                  </a:extLst>
                </a:hlinkClick>
              </a:rPr>
              <a:t>https://data.montgomerycountymd.gov</a:t>
            </a:r>
            <a:endParaRPr lang="en-US" sz="2800" u="sng" dirty="0"/>
          </a:p>
          <a:p>
            <a:endParaRPr lang="en-US" dirty="0"/>
          </a:p>
          <a:p>
            <a:endParaRPr lang="en-US" sz="1800" dirty="0"/>
          </a:p>
          <a:p>
            <a:endParaRPr lang="en-US" sz="1800" dirty="0"/>
          </a:p>
        </p:txBody>
      </p:sp>
    </p:spTree>
    <p:extLst>
      <p:ext uri="{BB962C8B-B14F-4D97-AF65-F5344CB8AC3E}">
        <p14:creationId xmlns:p14="http://schemas.microsoft.com/office/powerpoint/2010/main" val="321437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07587-BCEA-ECF3-EDCA-2890B7B37205}"/>
              </a:ext>
            </a:extLst>
          </p:cNvPr>
          <p:cNvSpPr>
            <a:spLocks noGrp="1"/>
          </p:cNvSpPr>
          <p:nvPr>
            <p:ph type="title"/>
          </p:nvPr>
        </p:nvSpPr>
        <p:spPr>
          <a:xfrm>
            <a:off x="3277641" y="2692145"/>
            <a:ext cx="6415000" cy="1091185"/>
          </a:xfrm>
        </p:spPr>
        <p:txBody>
          <a:bodyPr>
            <a:normAutofit fontScale="90000"/>
          </a:bodyPr>
          <a:lstStyle/>
          <a:p>
            <a:r>
              <a:rPr lang="en-US" sz="4000" dirty="0"/>
              <a:t>What is Benchmarking?</a:t>
            </a:r>
            <a:br>
              <a:rPr lang="en-US" sz="3600" dirty="0"/>
            </a:br>
            <a:br>
              <a:rPr lang="en-US" sz="3600" dirty="0"/>
            </a:br>
            <a:br>
              <a:rPr lang="en-US" sz="3600" dirty="0"/>
            </a:br>
            <a:br>
              <a:rPr lang="en-US" sz="3600" dirty="0"/>
            </a:br>
            <a:br>
              <a:rPr lang="en-US" dirty="0"/>
            </a:br>
            <a:br>
              <a:rPr lang="en-US" dirty="0"/>
            </a:br>
            <a:br>
              <a:rPr lang="en-US" dirty="0"/>
            </a:br>
            <a:br>
              <a:rPr lang="en-US" dirty="0"/>
            </a:br>
            <a:br>
              <a:rPr lang="en-US" dirty="0"/>
            </a:br>
            <a:endParaRPr lang="en-US" b="1" dirty="0"/>
          </a:p>
        </p:txBody>
      </p:sp>
    </p:spTree>
    <p:extLst>
      <p:ext uri="{BB962C8B-B14F-4D97-AF65-F5344CB8AC3E}">
        <p14:creationId xmlns:p14="http://schemas.microsoft.com/office/powerpoint/2010/main" val="1086737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3986-78F3-ABAC-7921-CFEC2952661B}"/>
              </a:ext>
            </a:extLst>
          </p:cNvPr>
          <p:cNvSpPr>
            <a:spLocks noGrp="1"/>
          </p:cNvSpPr>
          <p:nvPr>
            <p:ph type="title"/>
          </p:nvPr>
        </p:nvSpPr>
        <p:spPr>
          <a:xfrm>
            <a:off x="182880" y="219456"/>
            <a:ext cx="10835640" cy="791926"/>
          </a:xfrm>
        </p:spPr>
        <p:txBody>
          <a:bodyPr>
            <a:normAutofit/>
          </a:bodyPr>
          <a:lstStyle/>
          <a:p>
            <a:r>
              <a:rPr lang="en-US" sz="3200" dirty="0"/>
              <a:t>Exploratory Analysis </a:t>
            </a:r>
          </a:p>
        </p:txBody>
      </p:sp>
      <p:sp>
        <p:nvSpPr>
          <p:cNvPr id="4" name="TextBox 3">
            <a:extLst>
              <a:ext uri="{FF2B5EF4-FFF2-40B4-BE49-F238E27FC236}">
                <a16:creationId xmlns:a16="http://schemas.microsoft.com/office/drawing/2014/main" id="{9F5E170C-F976-2954-22A2-6DD6024FD83B}"/>
              </a:ext>
            </a:extLst>
          </p:cNvPr>
          <p:cNvSpPr txBox="1"/>
          <p:nvPr/>
        </p:nvSpPr>
        <p:spPr>
          <a:xfrm>
            <a:off x="1512101" y="615419"/>
            <a:ext cx="10295313" cy="5890972"/>
          </a:xfrm>
          <a:prstGeom prst="rect">
            <a:avLst/>
          </a:prstGeom>
          <a:noFill/>
        </p:spPr>
        <p:txBody>
          <a:bodyPr wrap="square" rtlCol="0">
            <a:spAutoFit/>
          </a:bodyPr>
          <a:lstStyle/>
          <a:p>
            <a:pPr>
              <a:lnSpc>
                <a:spcPct val="200000"/>
              </a:lnSpc>
            </a:pPr>
            <a:r>
              <a:rPr lang="en-US" sz="2400" dirty="0"/>
              <a:t>1846 rows, 27 columns </a:t>
            </a:r>
          </a:p>
          <a:p>
            <a:pPr>
              <a:lnSpc>
                <a:spcPct val="200000"/>
              </a:lnSpc>
            </a:pPr>
            <a:r>
              <a:rPr lang="en-US" sz="2400" dirty="0"/>
              <a:t>Numerical and Categorical data</a:t>
            </a:r>
          </a:p>
          <a:p>
            <a:pPr>
              <a:lnSpc>
                <a:spcPct val="200000"/>
              </a:lnSpc>
            </a:pPr>
            <a:r>
              <a:rPr lang="en-US" sz="2400" dirty="0"/>
              <a:t>25 duplicate entries</a:t>
            </a:r>
          </a:p>
          <a:p>
            <a:pPr>
              <a:lnSpc>
                <a:spcPct val="200000"/>
              </a:lnSpc>
            </a:pPr>
            <a:r>
              <a:rPr lang="en-US" sz="2400" dirty="0"/>
              <a:t>1821 remaining</a:t>
            </a:r>
          </a:p>
          <a:p>
            <a:pPr>
              <a:lnSpc>
                <a:spcPct val="200000"/>
              </a:lnSpc>
            </a:pPr>
            <a:r>
              <a:rPr lang="en-US" sz="2400" dirty="0"/>
              <a:t>Missing ID numbers and addresses</a:t>
            </a:r>
          </a:p>
          <a:p>
            <a:pPr>
              <a:lnSpc>
                <a:spcPct val="200000"/>
              </a:lnSpc>
            </a:pPr>
            <a:r>
              <a:rPr lang="en-US" sz="2400" dirty="0"/>
              <a:t>Electricity (kWh) had the most unique entries:  	1716</a:t>
            </a:r>
          </a:p>
          <a:p>
            <a:pPr>
              <a:lnSpc>
                <a:spcPct val="200000"/>
              </a:lnSpc>
            </a:pPr>
            <a:r>
              <a:rPr lang="en-US" sz="2400" dirty="0"/>
              <a:t>Reported Property Gross Floor Area unique: 		1672</a:t>
            </a:r>
          </a:p>
          <a:p>
            <a:pPr>
              <a:lnSpc>
                <a:spcPct val="200000"/>
              </a:lnSpc>
            </a:pPr>
            <a:r>
              <a:rPr lang="en-US" sz="2400" dirty="0"/>
              <a:t>Total GHG Emissions (Metric Tons CO2e) unique:  	1619</a:t>
            </a:r>
          </a:p>
        </p:txBody>
      </p:sp>
    </p:spTree>
    <p:extLst>
      <p:ext uri="{BB962C8B-B14F-4D97-AF65-F5344CB8AC3E}">
        <p14:creationId xmlns:p14="http://schemas.microsoft.com/office/powerpoint/2010/main" val="2843265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CE1E1-1798-58AE-70B0-42B79239222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FA671C-49F3-7EDE-329D-407806844210}"/>
              </a:ext>
            </a:extLst>
          </p:cNvPr>
          <p:cNvSpPr>
            <a:spLocks noGrp="1"/>
          </p:cNvSpPr>
          <p:nvPr>
            <p:ph type="title"/>
          </p:nvPr>
        </p:nvSpPr>
        <p:spPr/>
        <p:txBody>
          <a:bodyPr/>
          <a:lstStyle/>
          <a:p>
            <a:r>
              <a:rPr lang="en-US" dirty="0"/>
              <a:t>					</a:t>
            </a:r>
            <a:br>
              <a:rPr lang="en-US" dirty="0"/>
            </a:br>
            <a:r>
              <a:rPr lang="en-US" dirty="0"/>
              <a:t>							Histogram</a:t>
            </a:r>
          </a:p>
        </p:txBody>
      </p:sp>
      <p:pic>
        <p:nvPicPr>
          <p:cNvPr id="3" name="Picture 2">
            <a:extLst>
              <a:ext uri="{FF2B5EF4-FFF2-40B4-BE49-F238E27FC236}">
                <a16:creationId xmlns:a16="http://schemas.microsoft.com/office/drawing/2014/main" id="{960698C5-8852-78C1-170F-56B08C45B10A}"/>
              </a:ext>
            </a:extLst>
          </p:cNvPr>
          <p:cNvPicPr>
            <a:picLocks noChangeAspect="1"/>
          </p:cNvPicPr>
          <p:nvPr/>
        </p:nvPicPr>
        <p:blipFill>
          <a:blip r:embed="rId3"/>
          <a:stretch>
            <a:fillRect/>
          </a:stretch>
        </p:blipFill>
        <p:spPr>
          <a:xfrm>
            <a:off x="568346" y="137252"/>
            <a:ext cx="11055308" cy="6583496"/>
          </a:xfrm>
          <a:prstGeom prst="rect">
            <a:avLst/>
          </a:prstGeom>
        </p:spPr>
      </p:pic>
    </p:spTree>
    <p:extLst>
      <p:ext uri="{BB962C8B-B14F-4D97-AF65-F5344CB8AC3E}">
        <p14:creationId xmlns:p14="http://schemas.microsoft.com/office/powerpoint/2010/main" val="1604359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45521-1203-AF03-096A-156FCB295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03AE2-C871-FE83-C7BD-96FE5463E081}"/>
              </a:ext>
            </a:extLst>
          </p:cNvPr>
          <p:cNvSpPr>
            <a:spLocks noGrp="1"/>
          </p:cNvSpPr>
          <p:nvPr>
            <p:ph type="title"/>
          </p:nvPr>
        </p:nvSpPr>
        <p:spPr>
          <a:xfrm>
            <a:off x="971550" y="562356"/>
            <a:ext cx="10835640" cy="791926"/>
          </a:xfrm>
        </p:spPr>
        <p:txBody>
          <a:bodyPr>
            <a:normAutofit/>
          </a:bodyPr>
          <a:lstStyle/>
          <a:p>
            <a:r>
              <a:rPr lang="en-US" sz="3200" dirty="0"/>
              <a:t>Energy Star Scores</a:t>
            </a:r>
          </a:p>
        </p:txBody>
      </p:sp>
      <p:pic>
        <p:nvPicPr>
          <p:cNvPr id="8" name="Picture 7">
            <a:extLst>
              <a:ext uri="{FF2B5EF4-FFF2-40B4-BE49-F238E27FC236}">
                <a16:creationId xmlns:a16="http://schemas.microsoft.com/office/drawing/2014/main" id="{6AC4026C-0E39-3375-62E2-F37DFC178E45}"/>
              </a:ext>
            </a:extLst>
          </p:cNvPr>
          <p:cNvPicPr>
            <a:picLocks noChangeAspect="1"/>
          </p:cNvPicPr>
          <p:nvPr/>
        </p:nvPicPr>
        <p:blipFill>
          <a:blip r:embed="rId3"/>
          <a:stretch>
            <a:fillRect/>
          </a:stretch>
        </p:blipFill>
        <p:spPr>
          <a:xfrm>
            <a:off x="877570" y="36753"/>
            <a:ext cx="10723880" cy="6784494"/>
          </a:xfrm>
          <a:prstGeom prst="rect">
            <a:avLst/>
          </a:prstGeom>
        </p:spPr>
      </p:pic>
    </p:spTree>
    <p:extLst>
      <p:ext uri="{BB962C8B-B14F-4D97-AF65-F5344CB8AC3E}">
        <p14:creationId xmlns:p14="http://schemas.microsoft.com/office/powerpoint/2010/main" val="2217054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8EC4-7D06-D0A8-F333-9D6AA72A8A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F989E-1742-9F9C-D708-B1D26D3B1C58}"/>
              </a:ext>
            </a:extLst>
          </p:cNvPr>
          <p:cNvSpPr>
            <a:spLocks noGrp="1"/>
          </p:cNvSpPr>
          <p:nvPr>
            <p:ph type="title"/>
          </p:nvPr>
        </p:nvSpPr>
        <p:spPr>
          <a:xfrm>
            <a:off x="182880" y="219456"/>
            <a:ext cx="10835640" cy="791926"/>
          </a:xfrm>
        </p:spPr>
        <p:txBody>
          <a:bodyPr>
            <a:normAutofit fontScale="90000"/>
          </a:bodyPr>
          <a:lstStyle/>
          <a:p>
            <a:br>
              <a:rPr lang="en-US" sz="3200" dirty="0"/>
            </a:br>
            <a:r>
              <a:rPr lang="en-US" sz="3200" dirty="0"/>
              <a:t>						Violin Electricity</a:t>
            </a:r>
          </a:p>
        </p:txBody>
      </p:sp>
      <p:pic>
        <p:nvPicPr>
          <p:cNvPr id="5" name="Picture 4">
            <a:extLst>
              <a:ext uri="{FF2B5EF4-FFF2-40B4-BE49-F238E27FC236}">
                <a16:creationId xmlns:a16="http://schemas.microsoft.com/office/drawing/2014/main" id="{7ABC784D-037D-1598-8764-EC54F0C9E1FE}"/>
              </a:ext>
            </a:extLst>
          </p:cNvPr>
          <p:cNvPicPr>
            <a:picLocks noChangeAspect="1"/>
          </p:cNvPicPr>
          <p:nvPr/>
        </p:nvPicPr>
        <p:blipFill>
          <a:blip r:embed="rId3"/>
          <a:stretch>
            <a:fillRect/>
          </a:stretch>
        </p:blipFill>
        <p:spPr>
          <a:xfrm>
            <a:off x="833719" y="99801"/>
            <a:ext cx="10555940" cy="6678247"/>
          </a:xfrm>
          <a:prstGeom prst="rect">
            <a:avLst/>
          </a:prstGeom>
        </p:spPr>
      </p:pic>
    </p:spTree>
    <p:extLst>
      <p:ext uri="{BB962C8B-B14F-4D97-AF65-F5344CB8AC3E}">
        <p14:creationId xmlns:p14="http://schemas.microsoft.com/office/powerpoint/2010/main" val="1425292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BF10-2F27-4FD8-C254-10DA5D925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62085-1026-5984-442D-00085A0FE72D}"/>
              </a:ext>
            </a:extLst>
          </p:cNvPr>
          <p:cNvSpPr>
            <a:spLocks noGrp="1"/>
          </p:cNvSpPr>
          <p:nvPr>
            <p:ph type="title"/>
          </p:nvPr>
        </p:nvSpPr>
        <p:spPr>
          <a:xfrm>
            <a:off x="182880" y="219456"/>
            <a:ext cx="10835640" cy="791926"/>
          </a:xfrm>
        </p:spPr>
        <p:txBody>
          <a:bodyPr>
            <a:normAutofit fontScale="90000"/>
          </a:bodyPr>
          <a:lstStyle/>
          <a:p>
            <a:br>
              <a:rPr lang="en-US" sz="3200" dirty="0"/>
            </a:br>
            <a:r>
              <a:rPr lang="en-US" sz="3200" dirty="0"/>
              <a:t>	Scatter electricity full</a:t>
            </a:r>
          </a:p>
        </p:txBody>
      </p:sp>
      <p:pic>
        <p:nvPicPr>
          <p:cNvPr id="7" name="Picture 6">
            <a:extLst>
              <a:ext uri="{FF2B5EF4-FFF2-40B4-BE49-F238E27FC236}">
                <a16:creationId xmlns:a16="http://schemas.microsoft.com/office/drawing/2014/main" id="{C23258DC-18E1-D40E-BD45-F41FBD323AEE}"/>
              </a:ext>
            </a:extLst>
          </p:cNvPr>
          <p:cNvPicPr>
            <a:picLocks noChangeAspect="1"/>
          </p:cNvPicPr>
          <p:nvPr/>
        </p:nvPicPr>
        <p:blipFill>
          <a:blip r:embed="rId3"/>
          <a:stretch>
            <a:fillRect/>
          </a:stretch>
        </p:blipFill>
        <p:spPr>
          <a:xfrm>
            <a:off x="887506" y="133830"/>
            <a:ext cx="10421470" cy="6593174"/>
          </a:xfrm>
          <a:prstGeom prst="rect">
            <a:avLst/>
          </a:prstGeom>
        </p:spPr>
      </p:pic>
    </p:spTree>
    <p:extLst>
      <p:ext uri="{BB962C8B-B14F-4D97-AF65-F5344CB8AC3E}">
        <p14:creationId xmlns:p14="http://schemas.microsoft.com/office/powerpoint/2010/main" val="725740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715E-BC29-C89C-C6DB-536868633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2D50D-9C05-B945-E674-8E72A50FB96B}"/>
              </a:ext>
            </a:extLst>
          </p:cNvPr>
          <p:cNvSpPr>
            <a:spLocks noGrp="1"/>
          </p:cNvSpPr>
          <p:nvPr>
            <p:ph type="title"/>
          </p:nvPr>
        </p:nvSpPr>
        <p:spPr>
          <a:xfrm>
            <a:off x="182880" y="219456"/>
            <a:ext cx="10835640" cy="506685"/>
          </a:xfrm>
        </p:spPr>
        <p:txBody>
          <a:bodyPr>
            <a:normAutofit/>
          </a:bodyPr>
          <a:lstStyle/>
          <a:p>
            <a:r>
              <a:rPr lang="en-US" sz="2800" dirty="0"/>
              <a:t>	Electricity use by floor area, zoomed</a:t>
            </a:r>
          </a:p>
        </p:txBody>
      </p:sp>
      <p:pic>
        <p:nvPicPr>
          <p:cNvPr id="5" name="Picture 4">
            <a:extLst>
              <a:ext uri="{FF2B5EF4-FFF2-40B4-BE49-F238E27FC236}">
                <a16:creationId xmlns:a16="http://schemas.microsoft.com/office/drawing/2014/main" id="{3FEC36D6-6A09-36DA-B6F9-005031681BD3}"/>
              </a:ext>
            </a:extLst>
          </p:cNvPr>
          <p:cNvPicPr>
            <a:picLocks noChangeAspect="1"/>
          </p:cNvPicPr>
          <p:nvPr/>
        </p:nvPicPr>
        <p:blipFill>
          <a:blip r:embed="rId3"/>
          <a:stretch>
            <a:fillRect/>
          </a:stretch>
        </p:blipFill>
        <p:spPr>
          <a:xfrm>
            <a:off x="846417" y="116236"/>
            <a:ext cx="10486298" cy="6634188"/>
          </a:xfrm>
          <a:prstGeom prst="rect">
            <a:avLst/>
          </a:prstGeom>
        </p:spPr>
      </p:pic>
    </p:spTree>
    <p:extLst>
      <p:ext uri="{BB962C8B-B14F-4D97-AF65-F5344CB8AC3E}">
        <p14:creationId xmlns:p14="http://schemas.microsoft.com/office/powerpoint/2010/main" val="273392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DF0F-2884-46DE-263D-B4343800D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81868-E30C-3692-AE22-8766AE82B42F}"/>
              </a:ext>
            </a:extLst>
          </p:cNvPr>
          <p:cNvSpPr>
            <a:spLocks noGrp="1"/>
          </p:cNvSpPr>
          <p:nvPr>
            <p:ph type="title"/>
          </p:nvPr>
        </p:nvSpPr>
        <p:spPr>
          <a:xfrm>
            <a:off x="971550" y="562356"/>
            <a:ext cx="10835640" cy="791926"/>
          </a:xfrm>
        </p:spPr>
        <p:txBody>
          <a:bodyPr>
            <a:normAutofit/>
          </a:bodyPr>
          <a:lstStyle/>
          <a:p>
            <a:r>
              <a:rPr lang="en-US" sz="3200" dirty="0"/>
              <a:t>Distribution of Energy Use Intensity</a:t>
            </a:r>
          </a:p>
        </p:txBody>
      </p:sp>
      <p:pic>
        <p:nvPicPr>
          <p:cNvPr id="5" name="Picture 4">
            <a:extLst>
              <a:ext uri="{FF2B5EF4-FFF2-40B4-BE49-F238E27FC236}">
                <a16:creationId xmlns:a16="http://schemas.microsoft.com/office/drawing/2014/main" id="{A39FCA01-6789-F936-6137-03AB4814D13E}"/>
              </a:ext>
            </a:extLst>
          </p:cNvPr>
          <p:cNvPicPr>
            <a:picLocks noChangeAspect="1"/>
          </p:cNvPicPr>
          <p:nvPr/>
        </p:nvPicPr>
        <p:blipFill>
          <a:blip r:embed="rId3"/>
          <a:stretch>
            <a:fillRect/>
          </a:stretch>
        </p:blipFill>
        <p:spPr>
          <a:xfrm>
            <a:off x="648970" y="31797"/>
            <a:ext cx="10678160" cy="6755570"/>
          </a:xfrm>
          <a:prstGeom prst="rect">
            <a:avLst/>
          </a:prstGeom>
        </p:spPr>
      </p:pic>
    </p:spTree>
    <p:extLst>
      <p:ext uri="{BB962C8B-B14F-4D97-AF65-F5344CB8AC3E}">
        <p14:creationId xmlns:p14="http://schemas.microsoft.com/office/powerpoint/2010/main" val="1413457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F443E-3501-EA02-B424-7E256FB72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B128B-B738-BF3E-1EF8-0C88B7F66462}"/>
              </a:ext>
            </a:extLst>
          </p:cNvPr>
          <p:cNvSpPr>
            <a:spLocks noGrp="1"/>
          </p:cNvSpPr>
          <p:nvPr>
            <p:ph type="title"/>
          </p:nvPr>
        </p:nvSpPr>
        <p:spPr>
          <a:xfrm>
            <a:off x="182880" y="219456"/>
            <a:ext cx="10835640" cy="791926"/>
          </a:xfrm>
        </p:spPr>
        <p:txBody>
          <a:bodyPr>
            <a:normAutofit/>
          </a:bodyPr>
          <a:lstStyle/>
          <a:p>
            <a:r>
              <a:rPr lang="en-US" sz="3200" dirty="0"/>
              <a:t>Surprising findings: </a:t>
            </a:r>
          </a:p>
        </p:txBody>
      </p:sp>
      <p:sp>
        <p:nvSpPr>
          <p:cNvPr id="4" name="TextBox 3">
            <a:extLst>
              <a:ext uri="{FF2B5EF4-FFF2-40B4-BE49-F238E27FC236}">
                <a16:creationId xmlns:a16="http://schemas.microsoft.com/office/drawing/2014/main" id="{7EEC0D65-DF7D-A195-1D30-46F0BAA8876A}"/>
              </a:ext>
            </a:extLst>
          </p:cNvPr>
          <p:cNvSpPr txBox="1"/>
          <p:nvPr/>
        </p:nvSpPr>
        <p:spPr>
          <a:xfrm>
            <a:off x="1816677" y="1952452"/>
            <a:ext cx="10295313" cy="2800767"/>
          </a:xfrm>
          <a:prstGeom prst="rect">
            <a:avLst/>
          </a:prstGeom>
          <a:noFill/>
        </p:spPr>
        <p:txBody>
          <a:bodyPr wrap="square" rtlCol="0">
            <a:spAutoFit/>
          </a:bodyPr>
          <a:lstStyle/>
          <a:p>
            <a:r>
              <a:rPr lang="en-US" sz="2800" dirty="0"/>
              <a:t>Building age vs. Total GHG emissions</a:t>
            </a:r>
          </a:p>
          <a:p>
            <a:endParaRPr lang="en-US" sz="2800" dirty="0"/>
          </a:p>
          <a:p>
            <a:r>
              <a:rPr lang="en-US" sz="2800" dirty="0"/>
              <a:t>Building age vs. ENERGY STAR score</a:t>
            </a:r>
          </a:p>
          <a:p>
            <a:endParaRPr lang="en-US" sz="2800" dirty="0"/>
          </a:p>
          <a:p>
            <a:r>
              <a:rPr lang="en-US" sz="2800" dirty="0"/>
              <a:t>ENERGY STAR score vs. Total GHG emissions</a:t>
            </a:r>
          </a:p>
          <a:p>
            <a:endParaRPr lang="en-US" dirty="0"/>
          </a:p>
          <a:p>
            <a:endParaRPr lang="en-US" dirty="0"/>
          </a:p>
        </p:txBody>
      </p:sp>
    </p:spTree>
    <p:extLst>
      <p:ext uri="{BB962C8B-B14F-4D97-AF65-F5344CB8AC3E}">
        <p14:creationId xmlns:p14="http://schemas.microsoft.com/office/powerpoint/2010/main" val="1826593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017AF-D86F-7D76-368B-360D023F9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7DEB4-DC7E-F82A-EDB1-7C7C26D30B57}"/>
              </a:ext>
            </a:extLst>
          </p:cNvPr>
          <p:cNvSpPr>
            <a:spLocks noGrp="1"/>
          </p:cNvSpPr>
          <p:nvPr>
            <p:ph type="title"/>
          </p:nvPr>
        </p:nvSpPr>
        <p:spPr>
          <a:xfrm>
            <a:off x="971550" y="562356"/>
            <a:ext cx="10835640" cy="791926"/>
          </a:xfrm>
        </p:spPr>
        <p:txBody>
          <a:bodyPr>
            <a:normAutofit/>
          </a:bodyPr>
          <a:lstStyle/>
          <a:p>
            <a:r>
              <a:rPr lang="en-US" sz="3200" dirty="0"/>
              <a:t>Building age vs. Total GHG emissions</a:t>
            </a:r>
          </a:p>
        </p:txBody>
      </p:sp>
      <p:pic>
        <p:nvPicPr>
          <p:cNvPr id="9" name="Picture 8">
            <a:extLst>
              <a:ext uri="{FF2B5EF4-FFF2-40B4-BE49-F238E27FC236}">
                <a16:creationId xmlns:a16="http://schemas.microsoft.com/office/drawing/2014/main" id="{367BFA18-A1C8-5F3E-3202-B1F4C6C127CC}"/>
              </a:ext>
            </a:extLst>
          </p:cNvPr>
          <p:cNvPicPr>
            <a:picLocks noChangeAspect="1"/>
          </p:cNvPicPr>
          <p:nvPr/>
        </p:nvPicPr>
        <p:blipFill>
          <a:blip r:embed="rId3"/>
          <a:stretch>
            <a:fillRect/>
          </a:stretch>
        </p:blipFill>
        <p:spPr>
          <a:xfrm>
            <a:off x="834390" y="100225"/>
            <a:ext cx="10504170" cy="6645495"/>
          </a:xfrm>
          <a:prstGeom prst="rect">
            <a:avLst/>
          </a:prstGeom>
        </p:spPr>
      </p:pic>
    </p:spTree>
    <p:extLst>
      <p:ext uri="{BB962C8B-B14F-4D97-AF65-F5344CB8AC3E}">
        <p14:creationId xmlns:p14="http://schemas.microsoft.com/office/powerpoint/2010/main" val="368056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44D5-CE23-E7C6-CA34-D7FD5B511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C4302-CF90-1D46-6644-1A077788DCD3}"/>
              </a:ext>
            </a:extLst>
          </p:cNvPr>
          <p:cNvSpPr>
            <a:spLocks noGrp="1"/>
          </p:cNvSpPr>
          <p:nvPr>
            <p:ph type="title"/>
          </p:nvPr>
        </p:nvSpPr>
        <p:spPr>
          <a:xfrm>
            <a:off x="468630" y="1773936"/>
            <a:ext cx="10835640" cy="791926"/>
          </a:xfrm>
        </p:spPr>
        <p:txBody>
          <a:bodyPr>
            <a:normAutofit/>
          </a:bodyPr>
          <a:lstStyle/>
          <a:p>
            <a:r>
              <a:rPr lang="en-US" sz="3200" dirty="0"/>
              <a:t>Further study</a:t>
            </a:r>
          </a:p>
        </p:txBody>
      </p:sp>
      <p:sp>
        <p:nvSpPr>
          <p:cNvPr id="4" name="TextBox 3">
            <a:extLst>
              <a:ext uri="{FF2B5EF4-FFF2-40B4-BE49-F238E27FC236}">
                <a16:creationId xmlns:a16="http://schemas.microsoft.com/office/drawing/2014/main" id="{A689F89E-F4F4-5B5B-B508-CDE64140E2C3}"/>
              </a:ext>
            </a:extLst>
          </p:cNvPr>
          <p:cNvSpPr txBox="1"/>
          <p:nvPr/>
        </p:nvSpPr>
        <p:spPr>
          <a:xfrm>
            <a:off x="1502526" y="2912572"/>
            <a:ext cx="10295313" cy="2369880"/>
          </a:xfrm>
          <a:prstGeom prst="rect">
            <a:avLst/>
          </a:prstGeom>
          <a:noFill/>
        </p:spPr>
        <p:txBody>
          <a:bodyPr wrap="square" rtlCol="0">
            <a:spAutoFit/>
          </a:bodyPr>
          <a:lstStyle/>
          <a:p>
            <a:r>
              <a:rPr lang="en-US" sz="2800" dirty="0"/>
              <a:t>Explore more variables that may contribute to ENERGY STAR scores and try to find some stronger relationships.</a:t>
            </a:r>
          </a:p>
          <a:p>
            <a:endParaRPr lang="en-US" sz="2800" dirty="0"/>
          </a:p>
          <a:p>
            <a:r>
              <a:rPr lang="en-US" sz="2800" dirty="0"/>
              <a:t>Compare 2022 data with this 2023 data. </a:t>
            </a:r>
            <a:endParaRPr lang="en-US" dirty="0"/>
          </a:p>
          <a:p>
            <a:endParaRPr lang="en-US" dirty="0"/>
          </a:p>
          <a:p>
            <a:endParaRPr lang="en-US" dirty="0"/>
          </a:p>
        </p:txBody>
      </p:sp>
    </p:spTree>
    <p:extLst>
      <p:ext uri="{BB962C8B-B14F-4D97-AF65-F5344CB8AC3E}">
        <p14:creationId xmlns:p14="http://schemas.microsoft.com/office/powerpoint/2010/main" val="3347390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3B2DF-F9FD-24F2-0A9D-52887C066FE9}"/>
              </a:ext>
            </a:extLst>
          </p:cNvPr>
          <p:cNvSpPr>
            <a:spLocks noGrp="1"/>
          </p:cNvSpPr>
          <p:nvPr>
            <p:ph type="title"/>
          </p:nvPr>
        </p:nvSpPr>
        <p:spPr/>
        <p:txBody>
          <a:bodyPr/>
          <a:lstStyle/>
          <a:p>
            <a:r>
              <a:rPr lang="en-US" dirty="0"/>
              <a:t>Sources and Notes</a:t>
            </a:r>
          </a:p>
        </p:txBody>
      </p:sp>
      <p:sp>
        <p:nvSpPr>
          <p:cNvPr id="4" name="TextBox 3">
            <a:extLst>
              <a:ext uri="{FF2B5EF4-FFF2-40B4-BE49-F238E27FC236}">
                <a16:creationId xmlns:a16="http://schemas.microsoft.com/office/drawing/2014/main" id="{F2D671FF-C8EA-E68E-64CF-64D869BFE1A0}"/>
              </a:ext>
            </a:extLst>
          </p:cNvPr>
          <p:cNvSpPr txBox="1"/>
          <p:nvPr/>
        </p:nvSpPr>
        <p:spPr>
          <a:xfrm>
            <a:off x="935914" y="1624405"/>
            <a:ext cx="9854005" cy="6186309"/>
          </a:xfrm>
          <a:prstGeom prst="rect">
            <a:avLst/>
          </a:prstGeom>
          <a:noFill/>
        </p:spPr>
        <p:txBody>
          <a:bodyPr wrap="square">
            <a:spAutoFit/>
          </a:bodyPr>
          <a:lstStyle/>
          <a:p>
            <a:r>
              <a:rPr lang="en-US" dirty="0"/>
              <a:t>2023 Energy Benchmarking All Sites</a:t>
            </a:r>
          </a:p>
          <a:p>
            <a:r>
              <a:rPr lang="en-US" dirty="0"/>
              <a:t>The Energy Benchmarking Law requires the County to make annually reported energy benchmarking information readily available to the public. This dataset reflects data received by the publish date and does not include individually attributable benchmarking data for buildings in Group 5, as CY 2023 was the first year that these buildings were required to report to DEP.</a:t>
            </a:r>
          </a:p>
          <a:p>
            <a:r>
              <a:rPr lang="en-US" dirty="0"/>
              <a:t>September 23, 2025</a:t>
            </a:r>
          </a:p>
          <a:p>
            <a:r>
              <a:rPr lang="en-US" dirty="0"/>
              <a:t>Dataset Owner: Kathy Luh</a:t>
            </a:r>
          </a:p>
          <a:p>
            <a:r>
              <a:rPr lang="en-US" dirty="0"/>
              <a:t>27 columns 1846 rows</a:t>
            </a:r>
          </a:p>
          <a:p>
            <a:endParaRPr lang="en-US" sz="1800" b="0" i="0" dirty="0">
              <a:solidFill>
                <a:srgbClr val="9454C3"/>
              </a:solidFill>
              <a:effectLst/>
              <a:latin typeface="+mn-lt"/>
              <a:hlinkClick r:id="rId3">
                <a:extLst>
                  <a:ext uri="{A12FA001-AC4F-418D-AE19-62706E023703}">
                    <ahyp:hlinkClr xmlns:ahyp="http://schemas.microsoft.com/office/drawing/2018/hyperlinkcolor" val="tx"/>
                  </a:ext>
                </a:extLst>
              </a:hlinkClick>
            </a:endParaRPr>
          </a:p>
          <a:p>
            <a:endParaRPr lang="en-US" dirty="0">
              <a:hlinkClick r:id="rId3">
                <a:extLst>
                  <a:ext uri="{A12FA001-AC4F-418D-AE19-62706E023703}">
                    <ahyp:hlinkClr xmlns:ahyp="http://schemas.microsoft.com/office/drawing/2018/hyperlinkcolor" val="tx"/>
                  </a:ext>
                </a:extLst>
              </a:hlinkClick>
            </a:endParaRPr>
          </a:p>
          <a:p>
            <a:r>
              <a:rPr lang="en-US" dirty="0">
                <a:hlinkClick r:id="rId3">
                  <a:extLst>
                    <a:ext uri="{A12FA001-AC4F-418D-AE19-62706E023703}">
                      <ahyp:hlinkClr xmlns:ahyp="http://schemas.microsoft.com/office/drawing/2018/hyperlinkcolor" val="tx"/>
                    </a:ext>
                  </a:extLst>
                </a:hlinkClick>
              </a:rPr>
              <a:t>https://data.montgomerycountymd.gov/Environment/2023-Energy-Benchmarking-All-Sites/ensr-8pr2/about_data</a:t>
            </a:r>
            <a:endParaRPr lang="en-US" dirty="0"/>
          </a:p>
          <a:p>
            <a:endParaRPr lang="en-US" dirty="0"/>
          </a:p>
          <a:p>
            <a:r>
              <a:rPr lang="en-US" dirty="0">
                <a:hlinkClick r:id="rId4">
                  <a:extLst>
                    <a:ext uri="{A12FA001-AC4F-418D-AE19-62706E023703}">
                      <ahyp:hlinkClr xmlns:ahyp="http://schemas.microsoft.com/office/drawing/2018/hyperlinkcolor" val="tx"/>
                    </a:ext>
                  </a:extLst>
                </a:hlinkClick>
              </a:rPr>
              <a:t>https://www.energystar.gov/buildings/benchmark</a:t>
            </a:r>
            <a:endParaRPr lang="en-US" dirty="0"/>
          </a:p>
          <a:p>
            <a:endParaRPr lang="en-US" sz="1800" b="0" i="0" dirty="0">
              <a:effectLst/>
              <a:latin typeface="+mn-lt"/>
            </a:endParaRPr>
          </a:p>
          <a:p>
            <a:r>
              <a:rPr lang="en-US" u="sng" dirty="0"/>
              <a:t>https://www.energystar.gov/buildings/about-us</a:t>
            </a:r>
            <a:endParaRPr lang="en-US" sz="1800" b="0" i="0" u="sng" dirty="0">
              <a:effectLst/>
              <a:latin typeface="+mn-lt"/>
            </a:endParaRP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08741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9556-D094-88ED-99BD-A18828B5F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5A48D-0768-A3B8-D12B-682FA04112C5}"/>
              </a:ext>
            </a:extLst>
          </p:cNvPr>
          <p:cNvSpPr>
            <a:spLocks noGrp="1"/>
          </p:cNvSpPr>
          <p:nvPr>
            <p:ph type="title"/>
          </p:nvPr>
        </p:nvSpPr>
        <p:spPr>
          <a:xfrm>
            <a:off x="182880" y="219456"/>
            <a:ext cx="10835640" cy="791926"/>
          </a:xfrm>
        </p:spPr>
        <p:txBody>
          <a:bodyPr>
            <a:normAutofit/>
          </a:bodyPr>
          <a:lstStyle/>
          <a:p>
            <a:r>
              <a:rPr lang="en-US" sz="3200" dirty="0"/>
              <a:t>Notes</a:t>
            </a:r>
          </a:p>
        </p:txBody>
      </p:sp>
      <p:sp>
        <p:nvSpPr>
          <p:cNvPr id="4" name="TextBox 3">
            <a:extLst>
              <a:ext uri="{FF2B5EF4-FFF2-40B4-BE49-F238E27FC236}">
                <a16:creationId xmlns:a16="http://schemas.microsoft.com/office/drawing/2014/main" id="{4C5F2846-C481-8E79-2AE9-AAD75326287D}"/>
              </a:ext>
            </a:extLst>
          </p:cNvPr>
          <p:cNvSpPr txBox="1"/>
          <p:nvPr/>
        </p:nvSpPr>
        <p:spPr>
          <a:xfrm>
            <a:off x="1159626" y="1198072"/>
            <a:ext cx="10295313" cy="3693319"/>
          </a:xfrm>
          <a:prstGeom prst="rect">
            <a:avLst/>
          </a:prstGeom>
          <a:noFill/>
        </p:spPr>
        <p:txBody>
          <a:bodyPr wrap="square" rtlCol="0">
            <a:spAutoFit/>
          </a:bodyPr>
          <a:lstStyle/>
          <a:p>
            <a:r>
              <a:rPr lang="en-US" sz="2400" dirty="0"/>
              <a:t>Btu:  the British thermal unit (Btu) is a unit of measure of heat.  </a:t>
            </a:r>
          </a:p>
          <a:p>
            <a:r>
              <a:rPr lang="en-US" sz="2400" dirty="0"/>
              <a:t>It’s the amount of heat required to raise the temperature of one </a:t>
            </a:r>
          </a:p>
          <a:p>
            <a:r>
              <a:rPr lang="en-US" sz="2400" dirty="0"/>
              <a:t>pound of water by one degree Fahrenheit.</a:t>
            </a:r>
          </a:p>
          <a:p>
            <a:r>
              <a:rPr lang="en-US" sz="2400" dirty="0"/>
              <a:t>One Btu equals about 1,055 joules. </a:t>
            </a:r>
          </a:p>
          <a:p>
            <a:endParaRPr lang="en-US" sz="2400" dirty="0"/>
          </a:p>
          <a:p>
            <a:endParaRPr lang="en-US" sz="2400" dirty="0"/>
          </a:p>
          <a:p>
            <a:pPr lvl="0">
              <a:defRPr/>
            </a:pPr>
            <a:r>
              <a:rPr lang="en-US" sz="2400" dirty="0"/>
              <a:t>Energy Star: 1–100 score, which rates energy performance in comparison to similar buildings across the country</a:t>
            </a:r>
          </a:p>
          <a:p>
            <a:endParaRPr lang="en-US" sz="2400" dirty="0"/>
          </a:p>
          <a:p>
            <a:endParaRPr lang="en-US" dirty="0"/>
          </a:p>
        </p:txBody>
      </p:sp>
    </p:spTree>
    <p:extLst>
      <p:ext uri="{BB962C8B-B14F-4D97-AF65-F5344CB8AC3E}">
        <p14:creationId xmlns:p14="http://schemas.microsoft.com/office/powerpoint/2010/main" val="3112365671"/>
      </p:ext>
    </p:extLst>
  </p:cSld>
  <p:clrMapOvr>
    <a:masterClrMapping/>
  </p:clrMapOvr>
</p:sld>
</file>

<file path=ppt/theme/theme1.xml><?xml version="1.0" encoding="utf-8"?>
<a:theme xmlns:a="http://schemas.openxmlformats.org/drawingml/2006/main" name="Dun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Dune</Template>
  <TotalTime>279</TotalTime>
  <Words>594</Words>
  <Application>Microsoft Macintosh PowerPoint</Application>
  <PresentationFormat>Widescreen</PresentationFormat>
  <Paragraphs>94</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Google Sans Text</vt:lpstr>
      <vt:lpstr>Neue Haas Grotesk Text Pro</vt:lpstr>
      <vt:lpstr>Dune</vt:lpstr>
      <vt:lpstr>Which types of buildings in Montgomery County are Energy – Efficient?</vt:lpstr>
      <vt:lpstr>Source Dataset:</vt:lpstr>
      <vt:lpstr>What is Benchmarking?         </vt:lpstr>
      <vt:lpstr>Exploratory Analysis </vt:lpstr>
      <vt:lpstr>             Histogram</vt:lpstr>
      <vt:lpstr>Energy Star Scores</vt:lpstr>
      <vt:lpstr>       Violin Electricity</vt:lpstr>
      <vt:lpstr>  Scatter electricity full</vt:lpstr>
      <vt:lpstr> Electricity use by floor area, zoomed</vt:lpstr>
      <vt:lpstr>Distribution of Energy Use Intensity</vt:lpstr>
      <vt:lpstr>Surprising findings: </vt:lpstr>
      <vt:lpstr>Building age vs. Total GHG emissions</vt:lpstr>
      <vt:lpstr>Further study</vt:lpstr>
      <vt:lpstr>Sources and Notes</vt:lpstr>
      <vt:lpstr>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Ouspenskaia, Alissa I</dc:creator>
  <cp:lastModifiedBy>Ouspenskaia, Alissa I</cp:lastModifiedBy>
  <cp:revision>19</cp:revision>
  <dcterms:created xsi:type="dcterms:W3CDTF">2026-10-28T18:12:05Z</dcterms:created>
  <dcterms:modified xsi:type="dcterms:W3CDTF">2026-10-28T22:53:16Z</dcterms:modified>
</cp:coreProperties>
</file>