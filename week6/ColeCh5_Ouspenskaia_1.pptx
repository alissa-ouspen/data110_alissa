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6" r:id="rId2"/>
    <p:sldId id="257" r:id="rId3"/>
    <p:sldId id="258" r:id="rId4"/>
    <p:sldId id="265" r:id="rId5"/>
    <p:sldId id="264" r:id="rId6"/>
    <p:sldId id="266" r:id="rId7"/>
    <p:sldId id="259" r:id="rId8"/>
    <p:sldId id="267" r:id="rId9"/>
    <p:sldId id="268" r:id="rId10"/>
    <p:sldId id="269" r:id="rId11"/>
    <p:sldId id="270" r:id="rId12"/>
    <p:sldId id="272"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6"/>
    <p:restoredTop sz="90947"/>
  </p:normalViewPr>
  <p:slideViewPr>
    <p:cSldViewPr snapToGrid="0">
      <p:cViewPr varScale="1">
        <p:scale>
          <a:sx n="152" d="100"/>
          <a:sy n="152"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ED9194-9254-5E4B-9562-99368C7E982F}"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02AEB-D71A-B841-8974-BDC9320FD368}" type="slidenum">
              <a:rPr lang="en-US" smtClean="0"/>
              <a:t>‹#›</a:t>
            </a:fld>
            <a:endParaRPr lang="en-US"/>
          </a:p>
        </p:txBody>
      </p:sp>
    </p:spTree>
    <p:extLst>
      <p:ext uri="{BB962C8B-B14F-4D97-AF65-F5344CB8AC3E}">
        <p14:creationId xmlns:p14="http://schemas.microsoft.com/office/powerpoint/2010/main" val="670143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skills: group of microbiologists studying the cells in mouse lungs?  Mixed team of scientists, mathematicians, computer scientists? </a:t>
            </a:r>
          </a:p>
          <a:p>
            <a:r>
              <a:rPr lang="en-US" dirty="0"/>
              <a:t>Audience:  internal department?  Mixed teams?  Outside public? </a:t>
            </a:r>
          </a:p>
          <a:p>
            <a:r>
              <a:rPr lang="en-US" dirty="0"/>
              <a:t>Overcomplication:  metro design with above-ground features</a:t>
            </a:r>
          </a:p>
        </p:txBody>
      </p:sp>
      <p:sp>
        <p:nvSpPr>
          <p:cNvPr id="4" name="Slide Number Placeholder 3"/>
          <p:cNvSpPr>
            <a:spLocks noGrp="1"/>
          </p:cNvSpPr>
          <p:nvPr>
            <p:ph type="sldNum" sz="quarter" idx="5"/>
          </p:nvPr>
        </p:nvSpPr>
        <p:spPr/>
        <p:txBody>
          <a:bodyPr/>
          <a:lstStyle/>
          <a:p>
            <a:fld id="{32D02AEB-D71A-B841-8974-BDC9320FD368}" type="slidenum">
              <a:rPr lang="en-US" smtClean="0"/>
              <a:t>7</a:t>
            </a:fld>
            <a:endParaRPr lang="en-US"/>
          </a:p>
        </p:txBody>
      </p:sp>
    </p:spTree>
    <p:extLst>
      <p:ext uri="{BB962C8B-B14F-4D97-AF65-F5344CB8AC3E}">
        <p14:creationId xmlns:p14="http://schemas.microsoft.com/office/powerpoint/2010/main" val="3176804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3B1A-03B6-A2D3-2D89-F81A2C925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6B872-3563-62F6-F7BF-A923376A6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74C5A-764F-7B6F-7E55-9F362F276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5C9EC4-4FC9-698C-EF48-9986483AD596}"/>
              </a:ext>
            </a:extLst>
          </p:cNvPr>
          <p:cNvSpPr>
            <a:spLocks noGrp="1"/>
          </p:cNvSpPr>
          <p:nvPr>
            <p:ph type="sldNum" sz="quarter" idx="5"/>
          </p:nvPr>
        </p:nvSpPr>
        <p:spPr/>
        <p:txBody>
          <a:bodyPr/>
          <a:lstStyle/>
          <a:p>
            <a:fld id="{32D02AEB-D71A-B841-8974-BDC9320FD368}" type="slidenum">
              <a:rPr lang="en-US" smtClean="0"/>
              <a:t>8</a:t>
            </a:fld>
            <a:endParaRPr lang="en-US"/>
          </a:p>
        </p:txBody>
      </p:sp>
    </p:spTree>
    <p:extLst>
      <p:ext uri="{BB962C8B-B14F-4D97-AF65-F5344CB8AC3E}">
        <p14:creationId xmlns:p14="http://schemas.microsoft.com/office/powerpoint/2010/main" val="3784858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2BA9-2939-0751-564A-DFF0E3602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D8989-59CF-AB78-85E7-DAC071B5C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76A47-A598-D985-67ED-ED7ED8D1E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3201BD-9A44-3650-62F4-6D7ED91D316E}"/>
              </a:ext>
            </a:extLst>
          </p:cNvPr>
          <p:cNvSpPr>
            <a:spLocks noGrp="1"/>
          </p:cNvSpPr>
          <p:nvPr>
            <p:ph type="sldNum" sz="quarter" idx="5"/>
          </p:nvPr>
        </p:nvSpPr>
        <p:spPr/>
        <p:txBody>
          <a:bodyPr/>
          <a:lstStyle/>
          <a:p>
            <a:fld id="{32D02AEB-D71A-B841-8974-BDC9320FD368}" type="slidenum">
              <a:rPr lang="en-US" smtClean="0"/>
              <a:t>9</a:t>
            </a:fld>
            <a:endParaRPr lang="en-US"/>
          </a:p>
        </p:txBody>
      </p:sp>
    </p:spTree>
    <p:extLst>
      <p:ext uri="{BB962C8B-B14F-4D97-AF65-F5344CB8AC3E}">
        <p14:creationId xmlns:p14="http://schemas.microsoft.com/office/powerpoint/2010/main" val="271065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943E-5EA4-B5A6-C02A-0075C886E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FF80E-6D7D-5584-CD16-E72450255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2BBE5-17FF-833A-ABE7-EC2B21968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3F1D0-FDD6-861D-AA44-CB121A199E7A}"/>
              </a:ext>
            </a:extLst>
          </p:cNvPr>
          <p:cNvSpPr>
            <a:spLocks noGrp="1"/>
          </p:cNvSpPr>
          <p:nvPr>
            <p:ph type="sldNum" sz="quarter" idx="5"/>
          </p:nvPr>
        </p:nvSpPr>
        <p:spPr/>
        <p:txBody>
          <a:bodyPr/>
          <a:lstStyle/>
          <a:p>
            <a:fld id="{32D02AEB-D71A-B841-8974-BDC9320FD368}" type="slidenum">
              <a:rPr lang="en-US" smtClean="0"/>
              <a:t>10</a:t>
            </a:fld>
            <a:endParaRPr lang="en-US"/>
          </a:p>
        </p:txBody>
      </p:sp>
    </p:spTree>
    <p:extLst>
      <p:ext uri="{BB962C8B-B14F-4D97-AF65-F5344CB8AC3E}">
        <p14:creationId xmlns:p14="http://schemas.microsoft.com/office/powerpoint/2010/main" val="1749619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8E94D-C367-30F0-1698-508FA8D17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966B7-9BAF-D59D-2D45-21C27EFCA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9F2D6-0D26-6372-FB61-5746A1E33B8D}"/>
              </a:ext>
            </a:extLst>
          </p:cNvPr>
          <p:cNvSpPr>
            <a:spLocks noGrp="1"/>
          </p:cNvSpPr>
          <p:nvPr>
            <p:ph type="body" idx="1"/>
          </p:nvPr>
        </p:nvSpPr>
        <p:spPr/>
        <p:txBody>
          <a:bodyPr/>
          <a:lstStyle/>
          <a:p>
            <a:r>
              <a:rPr lang="en-US" sz="1400" kern="1200" dirty="0">
                <a:solidFill>
                  <a:schemeClr val="tx1"/>
                </a:solidFill>
                <a:effectLst/>
                <a:latin typeface="+mn-lt"/>
                <a:ea typeface="+mn-ea"/>
                <a:cs typeface="+mn-cs"/>
              </a:rPr>
              <a:t>Leverage white space. Preserve margins; don’t stretch your</a:t>
            </a:r>
          </a:p>
          <a:p>
            <a:r>
              <a:rPr lang="en-US" sz="1400" kern="1200" dirty="0">
                <a:solidFill>
                  <a:schemeClr val="tx1"/>
                </a:solidFill>
                <a:effectLst/>
                <a:latin typeface="+mn-lt"/>
                <a:ea typeface="+mn-ea"/>
                <a:cs typeface="+mn-cs"/>
              </a:rPr>
              <a:t>graphics to fill the space, or add things simply because you have</a:t>
            </a:r>
          </a:p>
          <a:p>
            <a:r>
              <a:rPr lang="en-US" sz="1400" kern="1200" dirty="0">
                <a:solidFill>
                  <a:schemeClr val="tx1"/>
                </a:solidFill>
                <a:effectLst/>
                <a:latin typeface="+mn-lt"/>
                <a:ea typeface="+mn-ea"/>
                <a:cs typeface="+mn-cs"/>
              </a:rPr>
              <a:t>extra space.</a:t>
            </a:r>
          </a:p>
        </p:txBody>
      </p:sp>
      <p:sp>
        <p:nvSpPr>
          <p:cNvPr id="4" name="Slide Number Placeholder 3">
            <a:extLst>
              <a:ext uri="{FF2B5EF4-FFF2-40B4-BE49-F238E27FC236}">
                <a16:creationId xmlns:a16="http://schemas.microsoft.com/office/drawing/2014/main" id="{FAA6CD00-3C6D-AE76-7A36-0E665DA3723D}"/>
              </a:ext>
            </a:extLst>
          </p:cNvPr>
          <p:cNvSpPr>
            <a:spLocks noGrp="1"/>
          </p:cNvSpPr>
          <p:nvPr>
            <p:ph type="sldNum" sz="quarter" idx="5"/>
          </p:nvPr>
        </p:nvSpPr>
        <p:spPr/>
        <p:txBody>
          <a:bodyPr/>
          <a:lstStyle/>
          <a:p>
            <a:fld id="{32D02AEB-D71A-B841-8974-BDC9320FD368}" type="slidenum">
              <a:rPr lang="en-US" smtClean="0"/>
              <a:t>11</a:t>
            </a:fld>
            <a:endParaRPr lang="en-US"/>
          </a:p>
        </p:txBody>
      </p:sp>
    </p:spTree>
    <p:extLst>
      <p:ext uri="{BB962C8B-B14F-4D97-AF65-F5344CB8AC3E}">
        <p14:creationId xmlns:p14="http://schemas.microsoft.com/office/powerpoint/2010/main" val="445524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3C4A-D9DD-2E9C-B419-3FA4F3243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0D5EA-9EF0-1EBC-3C4D-49B3103D2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5027A-3AFD-8005-1685-7A1037ED6079}"/>
              </a:ext>
            </a:extLst>
          </p:cNvPr>
          <p:cNvSpPr>
            <a:spLocks noGrp="1"/>
          </p:cNvSpPr>
          <p:nvPr>
            <p:ph type="body" idx="1"/>
          </p:nvPr>
        </p:nvSpPr>
        <p:spPr/>
        <p:txBody>
          <a:bodyPr/>
          <a:lstStyle/>
          <a:p>
            <a:r>
              <a:rPr lang="en-US" sz="1400" kern="1200" dirty="0">
                <a:solidFill>
                  <a:schemeClr val="tx1"/>
                </a:solidFill>
                <a:effectLst/>
                <a:latin typeface="+mn-lt"/>
                <a:ea typeface="+mn-ea"/>
                <a:cs typeface="+mn-cs"/>
              </a:rPr>
              <a:t>Leverage white space. Preserve margins; don’t stretch your</a:t>
            </a:r>
          </a:p>
          <a:p>
            <a:r>
              <a:rPr lang="en-US" sz="1400" kern="1200" dirty="0">
                <a:solidFill>
                  <a:schemeClr val="tx1"/>
                </a:solidFill>
                <a:effectLst/>
                <a:latin typeface="+mn-lt"/>
                <a:ea typeface="+mn-ea"/>
                <a:cs typeface="+mn-cs"/>
              </a:rPr>
              <a:t>graphics to fill the space, or add things simply because you have</a:t>
            </a:r>
          </a:p>
          <a:p>
            <a:r>
              <a:rPr lang="en-US" sz="1400" kern="1200" dirty="0">
                <a:solidFill>
                  <a:schemeClr val="tx1"/>
                </a:solidFill>
                <a:effectLst/>
                <a:latin typeface="+mn-lt"/>
                <a:ea typeface="+mn-ea"/>
                <a:cs typeface="+mn-cs"/>
              </a:rPr>
              <a:t>extra space.</a:t>
            </a:r>
          </a:p>
        </p:txBody>
      </p:sp>
      <p:sp>
        <p:nvSpPr>
          <p:cNvPr id="4" name="Slide Number Placeholder 3">
            <a:extLst>
              <a:ext uri="{FF2B5EF4-FFF2-40B4-BE49-F238E27FC236}">
                <a16:creationId xmlns:a16="http://schemas.microsoft.com/office/drawing/2014/main" id="{CAEFDD24-EDB7-E9B2-05FE-10BAC14E60BE}"/>
              </a:ext>
            </a:extLst>
          </p:cNvPr>
          <p:cNvSpPr>
            <a:spLocks noGrp="1"/>
          </p:cNvSpPr>
          <p:nvPr>
            <p:ph type="sldNum" sz="quarter" idx="5"/>
          </p:nvPr>
        </p:nvSpPr>
        <p:spPr/>
        <p:txBody>
          <a:bodyPr/>
          <a:lstStyle/>
          <a:p>
            <a:fld id="{32D02AEB-D71A-B841-8974-BDC9320FD368}" type="slidenum">
              <a:rPr lang="en-US" smtClean="0"/>
              <a:t>12</a:t>
            </a:fld>
            <a:endParaRPr lang="en-US"/>
          </a:p>
        </p:txBody>
      </p:sp>
    </p:spTree>
    <p:extLst>
      <p:ext uri="{BB962C8B-B14F-4D97-AF65-F5344CB8AC3E}">
        <p14:creationId xmlns:p14="http://schemas.microsoft.com/office/powerpoint/2010/main" val="14166354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6789" y="-1"/>
            <a:ext cx="12192001" cy="6858000"/>
          </a:xfrm>
          <a:blipFill>
            <a:blip r:embed="rId2">
              <a:alphaModFix amt="70000"/>
            </a:blip>
            <a:stretch>
              <a:fillRect/>
            </a:stretch>
          </a:blipFill>
        </p:spPr>
        <p:txBody>
          <a:bodyPr anchor="t"/>
          <a:lstStyle>
            <a:lvl1pPr>
              <a:defRPr/>
            </a:lvl1pPr>
          </a:lstStyle>
          <a:p>
            <a:endParaRP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
              </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709482670"/>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29456"/>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0" y="0"/>
            <a:ext cx="12192000" cy="6858000"/>
          </a:xfrm>
          <a:blipFill>
            <a:blip r:embed="rId2">
              <a:alphaModFix amt="70000"/>
            </a:blip>
            <a:stretch>
              <a:fillRect l="-2" t="-1" b="-19091"/>
            </a:stretch>
          </a:blipFill>
        </p:spPr>
        <p:txBody>
          <a:bodyPr anchor="t"/>
          <a:lstStyle>
            <a:lvl1pPr>
              <a:defRPr/>
            </a:lvl1pPr>
          </a:lstStyle>
          <a:p>
            <a:endParaRP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FigureOut">
              <a:rPr lang="en-US" dirty="0"/>
              <a:t>10/7/26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
              </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94405748"/>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
              </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dirty="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494257"/>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
              </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103727546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
              </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5758"/>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FigureOut">
              <a:rPr lang="en-US" dirty="0"/>
              <a:t>10/7/26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
              </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noChangeAspect="1"/>
          </p:cNvSpPr>
          <p:nvPr>
            <p:ph type="pic" sz="quarter" idx="17" hasCustomPrompt="1"/>
          </p:nvPr>
        </p:nvSpPr>
        <p:spPr>
          <a:xfrm>
            <a:off x="0" y="4492402"/>
            <a:ext cx="12192000" cy="2365597"/>
          </a:xfrm>
          <a:blipFill>
            <a:blip r:embed="rId2">
              <a:alphaModFix amt="70000"/>
            </a:blip>
            <a:stretch>
              <a:fillRect/>
            </a:stretch>
          </a:blipFill>
        </p:spPr>
        <p:txBody>
          <a:bodyPr anchor="t"/>
          <a:lstStyle>
            <a:lvl1pPr>
              <a:defRPr/>
            </a:lvl1pPr>
          </a:lstStyle>
          <a:p>
            <a:endParaRPr/>
          </a:p>
        </p:txBody>
      </p:sp>
    </p:spTree>
    <p:extLst>
      <p:ext uri="{BB962C8B-B14F-4D97-AF65-F5344CB8AC3E}">
        <p14:creationId xmlns:p14="http://schemas.microsoft.com/office/powerpoint/2010/main" val="1581739064"/>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7495696"/>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FigureOut">
              <a:rPr lang="en-US" dirty="0"/>
              <a:t>10/7/26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
              </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563298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FigureOut">
              <a:rPr lang="en-US" dirty="0"/>
              <a:t>10/7/26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
              </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noChangeAspect="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nchor="t"/>
          <a:lstStyle>
            <a:lvl1pPr>
              <a:defRPr/>
            </a:lvl1pPr>
          </a:lstStyle>
          <a:p>
            <a:endParaRP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98765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0"/>
            <a:ext cx="12192000" cy="3864075"/>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dirty="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84346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noChangeAspect="1"/>
          </p:cNvSpPr>
          <p:nvPr>
            <p:ph type="pic" sz="quarter" idx="15" hasCustomPrompt="1"/>
          </p:nvPr>
        </p:nvSpPr>
        <p:spPr>
          <a:xfrm>
            <a:off x="0" y="1"/>
            <a:ext cx="6959600" cy="6858000"/>
          </a:xfrm>
          <a:blipFill>
            <a:blip r:embed="rId2">
              <a:alphaModFix amt="60000"/>
            </a:blip>
            <a:stretch>
              <a:fillRect/>
            </a:stretch>
          </a:blipFill>
        </p:spPr>
        <p:txBody>
          <a:bodyPr anchor="t"/>
          <a:lstStyle>
            <a:lvl1pPr>
              <a:defRPr/>
            </a:lvl1pPr>
          </a:lstStyle>
          <a:p>
            <a:endParaRP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FigureOut">
              <a:rPr lang="en-US" dirty="0"/>
              <a:t>10/7/26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
              </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2651199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nchor="t"/>
          <a:lstStyle>
            <a:lvl1pPr>
              <a:defRPr/>
            </a:lvl1pPr>
          </a:lstStyle>
          <a:p>
            <a:endParaRPr/>
          </a:p>
        </p:txBody>
      </p:sp>
    </p:spTree>
    <p:extLst>
      <p:ext uri="{BB962C8B-B14F-4D97-AF65-F5344CB8AC3E}">
        <p14:creationId xmlns:p14="http://schemas.microsoft.com/office/powerpoint/2010/main" val="2061414480"/>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FigureOut">
              <a:rPr lang="en-US" dirty="0"/>
              <a:t>10/7/26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
              </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noChangeAspect="1"/>
          </p:cNvSpPr>
          <p:nvPr>
            <p:ph type="pic" sz="quarter" idx="15" hasCustomPrompt="1"/>
          </p:nvPr>
        </p:nvSpPr>
        <p:spPr>
          <a:xfrm>
            <a:off x="8731045" y="0"/>
            <a:ext cx="3460955" cy="6866879"/>
          </a:xfrm>
          <a:blipFill>
            <a:blip r:embed="rId2">
              <a:alphaModFix amt="60000"/>
            </a:blip>
            <a:stretch>
              <a:fillRect/>
            </a:stretch>
          </a:blipFill>
        </p:spPr>
        <p:txBody>
          <a:bodyPr anchor="t"/>
          <a:lstStyle>
            <a:lvl1pPr>
              <a:defRPr/>
            </a:lvl1pPr>
          </a:lstStyle>
          <a:p>
            <a:endParaRP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431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FigureOut">
              <a:rPr lang="en-US" dirty="0"/>
              <a:t>10/7/26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
              </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noChangeAspect="1"/>
          </p:cNvSpPr>
          <p:nvPr>
            <p:ph type="pic" sz="quarter" idx="15" hasCustomPrompt="1"/>
          </p:nvPr>
        </p:nvSpPr>
        <p:spPr>
          <a:xfrm>
            <a:off x="7620000" y="0"/>
            <a:ext cx="4572000" cy="6858000"/>
          </a:xfrm>
          <a:blipFill>
            <a:blip r:embed="rId2">
              <a:alphaModFix amt="60000"/>
            </a:blip>
            <a:stretch>
              <a:fillRect/>
            </a:stretch>
          </a:blipFill>
        </p:spPr>
        <p:txBody>
          <a:bodyPr anchor="t"/>
          <a:lstStyle>
            <a:lvl1pPr>
              <a:defRPr/>
            </a:lvl1pPr>
          </a:lstStyle>
          <a:p>
            <a:endParaRP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95245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noChangeAspect="1"/>
          </p:cNvSpPr>
          <p:nvPr>
            <p:ph type="pic" sz="quarter" idx="19" hasCustomPrompt="1"/>
          </p:nvPr>
        </p:nvSpPr>
        <p:spPr>
          <a:xfrm>
            <a:off x="-17796" y="0"/>
            <a:ext cx="12209796" cy="2420098"/>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FigureOut">
              <a:rPr lang="en-US" dirty="0"/>
              <a:t>10/7/26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
              </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646502"/>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451351" y="2680447"/>
            <a:ext cx="3357819" cy="3662083"/>
          </a:xfrm>
          <a:blipFill>
            <a:blip r:embed="rId2">
              <a:alphaModFix amt="60000"/>
            </a:blip>
            <a:stretch>
              <a:fillRect/>
            </a:stretch>
          </a:blipFill>
        </p:spPr>
        <p:txBody>
          <a:bodyPr anchor="t"/>
          <a:lstStyle>
            <a:lvl1pPr>
              <a:defRPr/>
            </a:lvl1pPr>
          </a:lstStyle>
          <a:p>
            <a:endParaRP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982236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382390" y="3045041"/>
            <a:ext cx="3338742" cy="3297489"/>
          </a:xfrm>
          <a:blipFill>
            <a:blip r:embed="rId2">
              <a:alphaModFix amt="6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9708548"/>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FigureOut">
              <a:rPr lang="en-US" dirty="0"/>
              <a:t>10/7/26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
              </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268954"/>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FigureOut">
              <a:rPr lang="en-US" dirty="0"/>
              <a:t>10/7/26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145237"/>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FigureOut">
              <a:rPr lang="en-US" dirty="0"/>
              <a:t>10/7/26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97544"/>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FigureOut">
              <a:rPr lang="en-US" dirty="0"/>
              <a:t>10/7/26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5059839"/>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FigureOut">
              <a:rPr lang="en-US" dirty="0"/>
              <a:t>10/7/26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
              </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6671752"/>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FigureOut">
              <a:rPr lang="en-US" dirty="0"/>
              <a:t>10/7/26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
              </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525281"/>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
              </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582573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FigureOut">
              <a:rPr lang="en-US" dirty="0"/>
              <a:t>10/7/26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4247792430"/>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FigureOut">
              <a:rPr lang="en-US" dirty="0"/>
              <a:t>10/7/26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02533781"/>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355479"/>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FigureOut">
              <a:rPr lang="en-US" dirty="0"/>
              <a:pPr/>
              <a:t>10/7/26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84845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Lst>
  <p:hf hdr="0" ft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2">
            <a:extLst>
              <a:ext uri="{FF2B5EF4-FFF2-40B4-BE49-F238E27FC236}">
                <a16:creationId xmlns:a16="http://schemas.microsoft.com/office/drawing/2014/main" id="{E4B2F9AB-B70C-8BEB-4BEB-B7A00305A807}"/>
              </a:ext>
            </a:extLst>
          </p:cNvPr>
          <p:cNvSpPr>
            <a:spLocks noGrp="1"/>
          </p:cNvSpPr>
          <p:nvPr>
            <p:ph type="dt" sz="half" idx="14"/>
          </p:nvPr>
        </p:nvSpPr>
        <p:spPr>
          <a:xfrm>
            <a:off x="301752" y="210114"/>
            <a:ext cx="1759288" cy="365760"/>
          </a:xfrm>
        </p:spPr>
        <p:txBody>
          <a:bodyPr/>
          <a:lstStyle/>
          <a:p>
            <a:pPr>
              <a:spcAft>
                <a:spcPts val="600"/>
              </a:spcAft>
            </a:pPr>
            <a:fld id="{AA7FFA6B-51BB-4491-9BA4-1CA2F55AFFEC}" type="datetime1">
              <a:rPr lang="en-US" smtClean="0"/>
              <a:pPr>
                <a:spcAft>
                  <a:spcPts val="600"/>
                </a:spcAft>
              </a:pPr>
              <a:t>10/7/26</a:t>
            </a:fld>
            <a:endParaRPr lang="en-US"/>
          </a:p>
        </p:txBody>
      </p:sp>
      <p:sp>
        <p:nvSpPr>
          <p:cNvPr id="12" name="Slide Number Placeholder 4">
            <a:extLst>
              <a:ext uri="{FF2B5EF4-FFF2-40B4-BE49-F238E27FC236}">
                <a16:creationId xmlns:a16="http://schemas.microsoft.com/office/drawing/2014/main" id="{781A93FB-638F-47A6-801D-E867A854DAC3}"/>
              </a:ext>
            </a:extLst>
          </p:cNvPr>
          <p:cNvSpPr>
            <a:spLocks noGrp="1"/>
          </p:cNvSpPr>
          <p:nvPr>
            <p:ph type="sldNum" sz="quarter" idx="16"/>
          </p:nvPr>
        </p:nvSpPr>
        <p:spPr>
          <a:xfrm>
            <a:off x="11300323" y="210114"/>
            <a:ext cx="605475" cy="365760"/>
          </a:xfrm>
        </p:spPr>
        <p:txBody>
          <a:bodyPr/>
          <a:lstStyle/>
          <a:p>
            <a:pPr>
              <a:spcAft>
                <a:spcPts val="600"/>
              </a:spcAft>
            </a:pPr>
            <a:fld id="{5E0677F5-4A8A-4BF1-96BE-3BAE8FBAFE2E}" type="slidenum">
              <a:rPr lang="en-US" smtClean="0"/>
              <a:pPr>
                <a:spcAft>
                  <a:spcPts val="600"/>
                </a:spcAft>
              </a:pPr>
              <a:t>1</a:t>
            </a:fld>
            <a:endParaRPr lang="en-US"/>
          </a:p>
        </p:txBody>
      </p:sp>
      <p:sp>
        <p:nvSpPr>
          <p:cNvPr id="14" name="Content Placeholder 5">
            <a:extLst>
              <a:ext uri="{FF2B5EF4-FFF2-40B4-BE49-F238E27FC236}">
                <a16:creationId xmlns:a16="http://schemas.microsoft.com/office/drawing/2014/main" id="{C674F266-B346-6386-8934-5B081C78F7D6}"/>
              </a:ext>
            </a:extLst>
          </p:cNvPr>
          <p:cNvSpPr>
            <a:spLocks noGrp="1"/>
          </p:cNvSpPr>
          <p:nvPr>
            <p:ph sz="quarter" idx="13"/>
          </p:nvPr>
        </p:nvSpPr>
        <p:spPr>
          <a:xfrm>
            <a:off x="523772" y="1637606"/>
            <a:ext cx="10568149" cy="5010279"/>
          </a:xfrm>
        </p:spPr>
        <p:txBody>
          <a:bodyPr vert="horz" lIns="91440" tIns="45720" rIns="91440" bIns="45720" rtlCol="0" anchor="t">
            <a:normAutofit/>
          </a:bodyPr>
          <a:lstStyle/>
          <a:p>
            <a:pPr>
              <a:lnSpc>
                <a:spcPct val="100000"/>
              </a:lnSpc>
            </a:pPr>
            <a:endParaRPr lang="en-US" sz="2800" dirty="0">
              <a:solidFill>
                <a:srgbClr val="D9D9D9"/>
              </a:solidFill>
              <a:latin typeface="Arial"/>
              <a:cs typeface="Arial"/>
            </a:endParaRPr>
          </a:p>
          <a:p>
            <a:pPr>
              <a:lnSpc>
                <a:spcPct val="100000"/>
              </a:lnSpc>
            </a:pPr>
            <a:r>
              <a:rPr lang="en-US" sz="2800" dirty="0">
                <a:solidFill>
                  <a:srgbClr val="D9D9D9"/>
                </a:solidFill>
                <a:latin typeface="Arial"/>
                <a:cs typeface="Arial"/>
              </a:rPr>
              <a:t>Cole Nussbaumer Knaflic</a:t>
            </a:r>
            <a:endParaRPr lang="en-US" sz="2800" dirty="0"/>
          </a:p>
          <a:p>
            <a:pPr>
              <a:lnSpc>
                <a:spcPct val="100000"/>
              </a:lnSpc>
            </a:pPr>
            <a:r>
              <a:rPr lang="en-US" sz="2800" dirty="0">
                <a:solidFill>
                  <a:srgbClr val="D9D9D9"/>
                </a:solidFill>
                <a:latin typeface="Arial"/>
                <a:cs typeface="Arial"/>
              </a:rPr>
              <a:t>Published 2015 by John Wiley &amp; Sons, Inc. </a:t>
            </a:r>
            <a:endParaRPr lang="en-US" sz="2800" dirty="0"/>
          </a:p>
          <a:p>
            <a:pPr>
              <a:lnSpc>
                <a:spcPct val="100000"/>
              </a:lnSpc>
            </a:pPr>
            <a:endParaRPr lang="en-US" sz="2800" dirty="0">
              <a:solidFill>
                <a:srgbClr val="D9D9D9"/>
              </a:solidFill>
              <a:latin typeface="Arial"/>
              <a:cs typeface="Arial"/>
            </a:endParaRPr>
          </a:p>
          <a:p>
            <a:r>
              <a:rPr lang="en-US" sz="3600" b="1" dirty="0">
                <a:solidFill>
                  <a:srgbClr val="D9D9D9"/>
                </a:solidFill>
                <a:latin typeface="Arial"/>
                <a:cs typeface="Arial"/>
              </a:rPr>
              <a:t>Chapter 5:  Think Like a Designer</a:t>
            </a:r>
            <a:endParaRPr lang="en-US" sz="3600" b="1" dirty="0"/>
          </a:p>
          <a:p>
            <a:endParaRPr lang="en-US" sz="3200" dirty="0">
              <a:solidFill>
                <a:srgbClr val="D9D9D9"/>
              </a:solidFill>
              <a:latin typeface="Arial"/>
              <a:cs typeface="Arial"/>
            </a:endParaRPr>
          </a:p>
          <a:p>
            <a:pPr>
              <a:lnSpc>
                <a:spcPct val="100000"/>
              </a:lnSpc>
            </a:pPr>
            <a:r>
              <a:rPr lang="en-US" sz="2800" dirty="0">
                <a:solidFill>
                  <a:srgbClr val="D9D9D9"/>
                </a:solidFill>
                <a:latin typeface="Arial"/>
                <a:cs typeface="Arial"/>
              </a:rPr>
              <a:t>Recap compiled by Alissa Ouspenskaia</a:t>
            </a:r>
            <a:endParaRPr lang="en-US" sz="2800" dirty="0"/>
          </a:p>
          <a:p>
            <a:pPr>
              <a:lnSpc>
                <a:spcPct val="100000"/>
              </a:lnSpc>
            </a:pPr>
            <a:r>
              <a:rPr lang="en-US" sz="2800" dirty="0">
                <a:solidFill>
                  <a:srgbClr val="D9D9D9"/>
                </a:solidFill>
                <a:latin typeface="Arial"/>
                <a:cs typeface="Arial"/>
              </a:rPr>
              <a:t>DATA110 Montgomery College Fall 2026</a:t>
            </a:r>
            <a:endParaRPr lang="en-US" sz="2800" dirty="0"/>
          </a:p>
          <a:p>
            <a:endParaRPr lang="en-US" dirty="0"/>
          </a:p>
        </p:txBody>
      </p:sp>
      <p:sp>
        <p:nvSpPr>
          <p:cNvPr id="5" name="TextBox 4">
            <a:extLst>
              <a:ext uri="{FF2B5EF4-FFF2-40B4-BE49-F238E27FC236}">
                <a16:creationId xmlns:a16="http://schemas.microsoft.com/office/drawing/2014/main" id="{29B03563-1486-BC2C-D297-7F668B59D51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922BC9D2-F615-B244-7525-635E145B6A4B}"/>
              </a:ext>
            </a:extLst>
          </p:cNvPr>
          <p:cNvSpPr txBox="1"/>
          <p:nvPr/>
        </p:nvSpPr>
        <p:spPr>
          <a:xfrm>
            <a:off x="523772" y="698187"/>
            <a:ext cx="105664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800" i="1" baseline="0" dirty="0">
                <a:solidFill>
                  <a:srgbClr val="D9D9D9"/>
                </a:solidFill>
                <a:latin typeface="Arial"/>
                <a:ea typeface="Segoe UI"/>
                <a:cs typeface="Segoe UI"/>
              </a:rPr>
              <a:t>Storytelling with Data:  </a:t>
            </a:r>
            <a:r>
              <a:rPr lang="en-US" sz="2800" dirty="0">
                <a:solidFill>
                  <a:srgbClr val="FFFFFF"/>
                </a:solidFill>
                <a:latin typeface="Arial"/>
                <a:ea typeface="Segoe UI"/>
                <a:cs typeface="Segoe UI"/>
              </a:rPr>
              <a:t>​</a:t>
            </a:r>
          </a:p>
          <a:p>
            <a:pPr rtl="0"/>
            <a:r>
              <a:rPr lang="en-US" sz="2800" i="1" baseline="0" dirty="0">
                <a:solidFill>
                  <a:srgbClr val="D9D9D9"/>
                </a:solidFill>
                <a:latin typeface="Arial"/>
                <a:ea typeface="Segoe UI"/>
                <a:cs typeface="Segoe UI"/>
              </a:rPr>
              <a:t>a Data Visualization Guide for Business Professionals</a:t>
            </a:r>
            <a:r>
              <a:rPr lang="en-US" sz="2800" dirty="0">
                <a:solidFill>
                  <a:srgbClr val="FFFFFF"/>
                </a:solidFill>
                <a:latin typeface="Arial"/>
                <a:ea typeface="Segoe UI"/>
                <a:cs typeface="Segoe UI"/>
              </a:rPr>
              <a:t>​</a:t>
            </a:r>
          </a:p>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669019-4B54-C577-8739-CE6AE5278FD1}"/>
              </a:ext>
            </a:extLst>
          </p:cNvPr>
          <p:cNvSpPr>
            <a:spLocks noGrp="1"/>
          </p:cNvSpPr>
          <p:nvPr>
            <p:ph type="dt" sz="half" idx="14"/>
          </p:nvPr>
        </p:nvSpPr>
        <p:spPr/>
        <p:txBody>
          <a:bodyPr/>
          <a:lstStyle/>
          <a:p>
            <a:fld id="{878647AE-1BE4-4215-9990-E545EA80C310}" type="datetime1">
              <a:rPr/>
              <a:t>10/7/26</a:t>
            </a:fld>
            <a:endParaRPr lang="en-US"/>
          </a:p>
        </p:txBody>
      </p:sp>
      <p:sp>
        <p:nvSpPr>
          <p:cNvPr id="5" name="Slide Number Placeholder 4">
            <a:extLst>
              <a:ext uri="{FF2B5EF4-FFF2-40B4-BE49-F238E27FC236}">
                <a16:creationId xmlns:a16="http://schemas.microsoft.com/office/drawing/2014/main" id="{5DA00DB4-BDC4-A1BC-E13A-96A40476D84F}"/>
              </a:ext>
            </a:extLst>
          </p:cNvPr>
          <p:cNvSpPr>
            <a:spLocks noGrp="1"/>
          </p:cNvSpPr>
          <p:nvPr>
            <p:ph type="sldNum" sz="quarter" idx="16"/>
          </p:nvPr>
        </p:nvSpPr>
        <p:spPr>
          <a:xfrm>
            <a:off x="11546378" y="210114"/>
            <a:ext cx="645622" cy="365760"/>
          </a:xfrm>
        </p:spPr>
        <p:txBody>
          <a:bodyPr/>
          <a:lstStyle/>
          <a:p>
            <a:fld id="{5E0677F5-4A8A-4BF1-96BE-3BAE8FBAFE2E}" type="slidenum">
              <a:rPr lang="en-US" sz="900" smtClean="0"/>
              <a:t>2</a:t>
            </a:fld>
            <a:r>
              <a:rPr lang="en-US" sz="900" dirty="0"/>
              <a:t>/10</a:t>
            </a:r>
          </a:p>
        </p:txBody>
      </p:sp>
      <p:sp>
        <p:nvSpPr>
          <p:cNvPr id="6" name="Content Placeholder 5">
            <a:extLst>
              <a:ext uri="{FF2B5EF4-FFF2-40B4-BE49-F238E27FC236}">
                <a16:creationId xmlns:a16="http://schemas.microsoft.com/office/drawing/2014/main" id="{DADC302F-C9AD-9AB4-FCC9-1174D8459E07}"/>
              </a:ext>
            </a:extLst>
          </p:cNvPr>
          <p:cNvSpPr>
            <a:spLocks noGrp="1"/>
          </p:cNvSpPr>
          <p:nvPr>
            <p:ph sz="quarter" idx="13"/>
          </p:nvPr>
        </p:nvSpPr>
        <p:spPr>
          <a:xfrm>
            <a:off x="5472545" y="1923918"/>
            <a:ext cx="5239327" cy="3746258"/>
          </a:xfrm>
        </p:spPr>
        <p:txBody>
          <a:bodyPr vert="horz" lIns="91440" tIns="45720" rIns="91440" bIns="45720" rtlCol="0" anchor="t">
            <a:normAutofit/>
          </a:bodyPr>
          <a:lstStyle/>
          <a:p>
            <a:r>
              <a:rPr lang="en-US" sz="3600" dirty="0">
                <a:latin typeface="Arial"/>
                <a:cs typeface="Arial"/>
              </a:rPr>
              <a:t>Affordances</a:t>
            </a:r>
          </a:p>
          <a:p>
            <a:r>
              <a:rPr lang="en-US" sz="3600" dirty="0">
                <a:latin typeface="Arial"/>
                <a:cs typeface="Arial"/>
              </a:rPr>
              <a:t>Accessibility</a:t>
            </a:r>
            <a:endParaRPr lang="en-US" sz="3600" dirty="0"/>
          </a:p>
          <a:p>
            <a:r>
              <a:rPr lang="en-US" sz="3600" dirty="0">
                <a:latin typeface="Arial"/>
                <a:cs typeface="Arial"/>
              </a:rPr>
              <a:t>Aesthetics</a:t>
            </a:r>
            <a:endParaRPr lang="en-US" sz="3600" dirty="0"/>
          </a:p>
          <a:p>
            <a:r>
              <a:rPr lang="en-US" sz="3600" dirty="0">
                <a:latin typeface="Arial"/>
                <a:cs typeface="Arial"/>
              </a:rPr>
              <a:t>Acceptance</a:t>
            </a:r>
            <a:endParaRPr lang="en-US" sz="3600" dirty="0"/>
          </a:p>
          <a:p>
            <a:endParaRPr lang="en-US" dirty="0"/>
          </a:p>
        </p:txBody>
      </p:sp>
      <p:sp>
        <p:nvSpPr>
          <p:cNvPr id="8" name="TextBox 7">
            <a:extLst>
              <a:ext uri="{FF2B5EF4-FFF2-40B4-BE49-F238E27FC236}">
                <a16:creationId xmlns:a16="http://schemas.microsoft.com/office/drawing/2014/main" id="{505A330B-E0BB-AF47-9DE9-6AF96568EED8}"/>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9D868EC8-B47B-5CAF-3FB0-E869B0DEEC38}"/>
              </a:ext>
            </a:extLst>
          </p:cNvPr>
          <p:cNvSpPr>
            <a:spLocks noGrp="1"/>
          </p:cNvSpPr>
          <p:nvPr>
            <p:ph type="title"/>
          </p:nvPr>
        </p:nvSpPr>
        <p:spPr>
          <a:xfrm>
            <a:off x="6385330" y="222569"/>
            <a:ext cx="4230023" cy="486227"/>
          </a:xfrm>
        </p:spPr>
        <p:txBody>
          <a:bodyPr>
            <a:normAutofit fontScale="90000"/>
          </a:bodyPr>
          <a:lstStyle/>
          <a:p>
            <a:r>
              <a:rPr lang="en-US" sz="3200" dirty="0">
                <a:solidFill>
                  <a:srgbClr val="F2F2F2"/>
                </a:solidFill>
                <a:latin typeface="Arial"/>
                <a:cs typeface="Arial"/>
              </a:rPr>
              <a:t>      </a:t>
            </a:r>
            <a:r>
              <a:rPr lang="en-US" sz="2200" dirty="0">
                <a:solidFill>
                  <a:srgbClr val="F2F2F2"/>
                </a:solidFill>
                <a:latin typeface="Arial"/>
                <a:cs typeface="Arial"/>
              </a:rPr>
              <a:t>Cole Chapter 5                      </a:t>
            </a:r>
            <a:endParaRPr lang="en-US" sz="2200" dirty="0"/>
          </a:p>
        </p:txBody>
      </p:sp>
      <p:sp>
        <p:nvSpPr>
          <p:cNvPr id="12" name="TextBox 11">
            <a:extLst>
              <a:ext uri="{FF2B5EF4-FFF2-40B4-BE49-F238E27FC236}">
                <a16:creationId xmlns:a16="http://schemas.microsoft.com/office/drawing/2014/main" id="{909A2CFB-A19D-115F-F830-BCBF394E51AA}"/>
              </a:ext>
            </a:extLst>
          </p:cNvPr>
          <p:cNvSpPr txBox="1"/>
          <p:nvPr/>
        </p:nvSpPr>
        <p:spPr>
          <a:xfrm>
            <a:off x="549564" y="892387"/>
            <a:ext cx="341168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aseline="0" dirty="0">
                <a:solidFill>
                  <a:srgbClr val="F2F2F2"/>
                </a:solidFill>
                <a:latin typeface="Arial"/>
              </a:rPr>
              <a:t>Overview</a:t>
            </a:r>
            <a:r>
              <a:rPr sz="3600" dirty="0">
                <a:latin typeface="Arial"/>
                <a:ea typeface="Arial"/>
                <a:cs typeface="Arial"/>
              </a:rPr>
              <a:t>​</a:t>
            </a:r>
            <a:endParaRPr lang="en-US" sz="3600" dirty="0"/>
          </a:p>
          <a:p>
            <a:pPr algn="ctr"/>
            <a:endParaRPr lang="en-US" dirty="0"/>
          </a:p>
        </p:txBody>
      </p:sp>
    </p:spTree>
    <p:extLst>
      <p:ext uri="{BB962C8B-B14F-4D97-AF65-F5344CB8AC3E}">
        <p14:creationId xmlns:p14="http://schemas.microsoft.com/office/powerpoint/2010/main" val="127661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0566-648F-B940-CFC1-0D566CAEDF91}"/>
              </a:ext>
            </a:extLst>
          </p:cNvPr>
          <p:cNvSpPr>
            <a:spLocks noGrp="1"/>
          </p:cNvSpPr>
          <p:nvPr>
            <p:ph type="title"/>
          </p:nvPr>
        </p:nvSpPr>
        <p:spPr>
          <a:xfrm>
            <a:off x="164756" y="892387"/>
            <a:ext cx="2636633" cy="2673773"/>
          </a:xfrm>
        </p:spPr>
        <p:txBody>
          <a:bodyPr>
            <a:normAutofit/>
          </a:bodyPr>
          <a:lstStyle/>
          <a:p>
            <a:r>
              <a:rPr lang="en-US" sz="36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3" name="Date Placeholder 2">
            <a:extLst>
              <a:ext uri="{FF2B5EF4-FFF2-40B4-BE49-F238E27FC236}">
                <a16:creationId xmlns:a16="http://schemas.microsoft.com/office/drawing/2014/main" id="{DA38E4EC-47F7-9BA5-01D0-E2F0E16D799B}"/>
              </a:ext>
            </a:extLst>
          </p:cNvPr>
          <p:cNvSpPr>
            <a:spLocks noGrp="1"/>
          </p:cNvSpPr>
          <p:nvPr>
            <p:ph type="dt" sz="half" idx="14"/>
          </p:nvPr>
        </p:nvSpPr>
        <p:spPr/>
        <p:txBody>
          <a:bodyPr/>
          <a:lstStyle/>
          <a:p>
            <a:fld id="{77C9C693-62E9-4934-AE93-3D2C6A713171}" type="datetime1">
              <a:rPr lang="en-US"/>
              <a:t>10/7/26</a:t>
            </a:fld>
            <a:endParaRPr lang="en-US"/>
          </a:p>
        </p:txBody>
      </p:sp>
      <p:sp>
        <p:nvSpPr>
          <p:cNvPr id="5" name="Slide Number Placeholder 4">
            <a:extLst>
              <a:ext uri="{FF2B5EF4-FFF2-40B4-BE49-F238E27FC236}">
                <a16:creationId xmlns:a16="http://schemas.microsoft.com/office/drawing/2014/main" id="{2C129605-E771-72C7-713C-707BF4112EBA}"/>
              </a:ext>
            </a:extLst>
          </p:cNvPr>
          <p:cNvSpPr>
            <a:spLocks noGrp="1"/>
          </p:cNvSpPr>
          <p:nvPr>
            <p:ph type="sldNum" sz="quarter" idx="16"/>
          </p:nvPr>
        </p:nvSpPr>
        <p:spPr/>
        <p:txBody>
          <a:bodyPr/>
          <a:lstStyle/>
          <a:p>
            <a:fld id="{5E0677F5-4A8A-4BF1-96BE-3BAE8FBAFE2E}" type="slidenum">
              <a:rPr lang="en-US" dirty="0"/>
              <a:t>3</a:t>
            </a:fld>
            <a:endParaRPr lang="en-US"/>
          </a:p>
        </p:txBody>
      </p:sp>
      <p:sp>
        <p:nvSpPr>
          <p:cNvPr id="6" name="Content Placeholder 5">
            <a:extLst>
              <a:ext uri="{FF2B5EF4-FFF2-40B4-BE49-F238E27FC236}">
                <a16:creationId xmlns:a16="http://schemas.microsoft.com/office/drawing/2014/main" id="{DD529298-C4F5-C45D-F975-590E8B8EA170}"/>
              </a:ext>
            </a:extLst>
          </p:cNvPr>
          <p:cNvSpPr>
            <a:spLocks noGrp="1"/>
          </p:cNvSpPr>
          <p:nvPr>
            <p:ph sz="quarter" idx="13"/>
          </p:nvPr>
        </p:nvSpPr>
        <p:spPr>
          <a:xfrm>
            <a:off x="2967644" y="1546168"/>
            <a:ext cx="9224356" cy="5311832"/>
          </a:xfrm>
        </p:spPr>
        <p:txBody>
          <a:bodyPr>
            <a:normAutofit/>
          </a:bodyPr>
          <a:lstStyle/>
          <a:p>
            <a:r>
              <a:rPr lang="en-US" sz="2000" b="1" dirty="0"/>
              <a:t>Affordance definition</a:t>
            </a:r>
          </a:p>
          <a:p>
            <a:r>
              <a:rPr lang="en-US" sz="2000" dirty="0"/>
              <a:t>- the quality or property of an object that defines its possible uses or makes clear how it can or should be used</a:t>
            </a:r>
          </a:p>
          <a:p>
            <a:r>
              <a:rPr lang="en-US" sz="2000" dirty="0"/>
              <a:t>			 		— Merriam-Webster Dictionary</a:t>
            </a:r>
          </a:p>
          <a:p>
            <a:r>
              <a:rPr lang="en-US" sz="2000" dirty="0"/>
              <a:t>- aspects inherent to the design that make it obvious how the product is to be used</a:t>
            </a:r>
          </a:p>
          <a:p>
            <a:r>
              <a:rPr lang="en-US" sz="2000" dirty="0"/>
              <a:t>			 		— Cole Knaflic</a:t>
            </a:r>
          </a:p>
          <a:p>
            <a:r>
              <a:rPr lang="en-US" sz="2000" b="1" dirty="0"/>
              <a:t>Examples</a:t>
            </a:r>
          </a:p>
          <a:p>
            <a:r>
              <a:rPr lang="en-US" sz="2000" dirty="0"/>
              <a:t>“We sit or stand on a chair because those </a:t>
            </a:r>
            <a:r>
              <a:rPr lang="en-US" sz="2000" i="1" dirty="0"/>
              <a:t>affordances</a:t>
            </a:r>
            <a:r>
              <a:rPr lang="en-US" sz="2000" dirty="0"/>
              <a:t> are fairly obvious.” 						— Scott Lafee</a:t>
            </a:r>
          </a:p>
          <a:p>
            <a:r>
              <a:rPr lang="en-US" sz="2000" dirty="0"/>
              <a:t>“A knob affords turning, a button affords pushing, and a cord affords pulling.”</a:t>
            </a:r>
          </a:p>
          <a:p>
            <a:r>
              <a:rPr lang="en-US" sz="2000" dirty="0"/>
              <a:t> 					— Cole Knaflic</a:t>
            </a:r>
          </a:p>
          <a:p>
            <a:endParaRPr lang="en-US" dirty="0"/>
          </a:p>
        </p:txBody>
      </p:sp>
      <p:sp>
        <p:nvSpPr>
          <p:cNvPr id="8" name="TextBox 7">
            <a:extLst>
              <a:ext uri="{FF2B5EF4-FFF2-40B4-BE49-F238E27FC236}">
                <a16:creationId xmlns:a16="http://schemas.microsoft.com/office/drawing/2014/main" id="{BE25426D-D70D-A83F-70DF-F7E3CB03CED3}"/>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2263E037-3411-F52A-2C04-CD12D0F39C0A}"/>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9" name="Title 1">
            <a:extLst>
              <a:ext uri="{FF2B5EF4-FFF2-40B4-BE49-F238E27FC236}">
                <a16:creationId xmlns:a16="http://schemas.microsoft.com/office/drawing/2014/main" id="{A0865BF2-0DC4-B384-81A7-531ACA6DD58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88464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DCDE-5D99-193E-11D6-2A090070DA9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2162CC5-2EAB-CEF6-C75C-5C16243AC4A1}"/>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83D1FE4-B631-352C-6D1E-0A0B39493642}"/>
              </a:ext>
            </a:extLst>
          </p:cNvPr>
          <p:cNvSpPr>
            <a:spLocks noGrp="1"/>
          </p:cNvSpPr>
          <p:nvPr>
            <p:ph type="sldNum" sz="quarter" idx="16"/>
          </p:nvPr>
        </p:nvSpPr>
        <p:spPr/>
        <p:txBody>
          <a:bodyPr/>
          <a:lstStyle/>
          <a:p>
            <a:fld id="{5E0677F5-4A8A-4BF1-96BE-3BAE8FBAFE2E}" type="slidenum">
              <a:rPr lang="en-US" dirty="0"/>
              <a:t>4</a:t>
            </a:fld>
            <a:endParaRPr lang="en-US"/>
          </a:p>
        </p:txBody>
      </p:sp>
      <p:sp>
        <p:nvSpPr>
          <p:cNvPr id="5" name="Content Placeholder 4">
            <a:extLst>
              <a:ext uri="{FF2B5EF4-FFF2-40B4-BE49-F238E27FC236}">
                <a16:creationId xmlns:a16="http://schemas.microsoft.com/office/drawing/2014/main" id="{0E12E81B-ACE5-26C4-C22F-E1964496E3EB}"/>
              </a:ext>
            </a:extLst>
          </p:cNvPr>
          <p:cNvSpPr>
            <a:spLocks noGrp="1"/>
          </p:cNvSpPr>
          <p:nvPr>
            <p:ph sz="quarter" idx="13"/>
          </p:nvPr>
        </p:nvSpPr>
        <p:spPr>
          <a:xfrm>
            <a:off x="3582785" y="1596044"/>
            <a:ext cx="8323013" cy="5261956"/>
          </a:xfrm>
        </p:spPr>
        <p:txBody>
          <a:bodyPr>
            <a:normAutofit/>
          </a:bodyPr>
          <a:lstStyle/>
          <a:p>
            <a:pPr marL="285750" indent="-285750">
              <a:buFont typeface="Arial" panose="020B0604020202020204" pitchFamily="34" charset="0"/>
              <a:buChar char="•"/>
            </a:pPr>
            <a:r>
              <a:rPr lang="en-US" sz="2000" dirty="0"/>
              <a:t>Highlight what’s important	</a:t>
            </a:r>
          </a:p>
          <a:p>
            <a:pPr lvl="1"/>
            <a:r>
              <a:rPr lang="en-US" sz="2000" dirty="0"/>
              <a:t>	- details can go in footnotes or on the last few slides as additional 		references</a:t>
            </a:r>
          </a:p>
          <a:p>
            <a:pPr marL="285750" lvl="1" indent="-285750">
              <a:spcBef>
                <a:spcPts val="1000"/>
              </a:spcBef>
              <a:buFont typeface="Arial" panose="020B0604020202020204" pitchFamily="34" charset="0"/>
              <a:buChar char="•"/>
            </a:pPr>
            <a:r>
              <a:rPr lang="en-US" sz="2000" dirty="0"/>
              <a:t>Eliminate distractions</a:t>
            </a:r>
          </a:p>
          <a:p>
            <a:r>
              <a:rPr lang="en-US" sz="2000" dirty="0"/>
              <a:t>	- font / typeface arial sans serif</a:t>
            </a:r>
          </a:p>
          <a:p>
            <a:r>
              <a:rPr lang="en-US" sz="2000" dirty="0"/>
              <a:t>	- italics, and underlining are only for titles and captions.</a:t>
            </a:r>
          </a:p>
          <a:p>
            <a:r>
              <a:rPr lang="en-US" sz="2000" dirty="0"/>
              <a:t>	- 2 font sizes preferred.  3 if absolutely necessary.</a:t>
            </a:r>
          </a:p>
          <a:p>
            <a:r>
              <a:rPr lang="en-US" sz="2000" dirty="0"/>
              <a:t>	- no blinking or flashing. </a:t>
            </a:r>
          </a:p>
          <a:p>
            <a:pPr marL="285750" indent="-285750">
              <a:buFont typeface="Arial" panose="020B0604020202020204" pitchFamily="34" charset="0"/>
              <a:buChar char="•"/>
            </a:pPr>
            <a:r>
              <a:rPr lang="en-US" sz="2000" dirty="0"/>
              <a:t>Visual hierarchy of information</a:t>
            </a:r>
          </a:p>
          <a:p>
            <a:pPr lvl="1"/>
            <a:r>
              <a:rPr lang="en-US" sz="2000" dirty="0"/>
              <a:t>	- use </a:t>
            </a:r>
            <a:r>
              <a:rPr lang="en-US" sz="2000" dirty="0">
                <a:solidFill>
                  <a:srgbClr val="FFFF00"/>
                </a:solidFill>
              </a:rPr>
              <a:t>color</a:t>
            </a:r>
            <a:r>
              <a:rPr lang="en-US" sz="2000" dirty="0"/>
              <a:t>, </a:t>
            </a:r>
            <a:r>
              <a:rPr lang="en-US" sz="2000" b="1" dirty="0"/>
              <a:t>bold</a:t>
            </a:r>
            <a:r>
              <a:rPr lang="en-US" sz="2000" dirty="0"/>
              <a:t>, and ALL CAPS sparingly </a:t>
            </a:r>
          </a:p>
          <a:p>
            <a:pPr lvl="1"/>
            <a:r>
              <a:rPr lang="en-US" sz="2000" dirty="0"/>
              <a:t>	- supporting details can be pushed to the background</a:t>
            </a:r>
          </a:p>
          <a:p>
            <a:endParaRPr lang="en-US" sz="2000" dirty="0"/>
          </a:p>
        </p:txBody>
      </p:sp>
      <p:sp>
        <p:nvSpPr>
          <p:cNvPr id="7" name="TextBox 6">
            <a:extLst>
              <a:ext uri="{FF2B5EF4-FFF2-40B4-BE49-F238E27FC236}">
                <a16:creationId xmlns:a16="http://schemas.microsoft.com/office/drawing/2014/main" id="{F494A07C-4CA9-AB15-9236-1BAD993E9435}"/>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a:t>
            </a:r>
            <a:r>
              <a:rPr lang="en-US" sz="900" dirty="0"/>
              <a:t>10</a:t>
            </a:r>
          </a:p>
        </p:txBody>
      </p:sp>
      <p:sp>
        <p:nvSpPr>
          <p:cNvPr id="6" name="Title 1">
            <a:extLst>
              <a:ext uri="{FF2B5EF4-FFF2-40B4-BE49-F238E27FC236}">
                <a16:creationId xmlns:a16="http://schemas.microsoft.com/office/drawing/2014/main" id="{D2D7B374-3D7D-A9A8-19A1-34F469D39190}"/>
              </a:ext>
            </a:extLst>
          </p:cNvPr>
          <p:cNvSpPr>
            <a:spLocks noGrp="1"/>
          </p:cNvSpPr>
          <p:nvPr>
            <p:ph type="title"/>
          </p:nvPr>
        </p:nvSpPr>
        <p:spPr>
          <a:xfrm>
            <a:off x="301752" y="953867"/>
            <a:ext cx="2657579" cy="2188343"/>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BC545E6-E75D-E333-B14E-2FE58819BE51}"/>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BCC3D3D6-8295-1E7B-2B66-82A3D4AA3C2D}"/>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04381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76D6-5CC1-E08C-93CF-9A465CBAB4F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A1E44D5-5B08-F5ED-0E03-6BA223B5A6B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880AFD56-A646-5BA8-B90F-02E02DB9BC5A}"/>
              </a:ext>
            </a:extLst>
          </p:cNvPr>
          <p:cNvSpPr>
            <a:spLocks noGrp="1"/>
          </p:cNvSpPr>
          <p:nvPr>
            <p:ph type="sldNum" sz="quarter" idx="16"/>
          </p:nvPr>
        </p:nvSpPr>
        <p:spPr/>
        <p:txBody>
          <a:bodyPr/>
          <a:lstStyle/>
          <a:p>
            <a:fld id="{5E0677F5-4A8A-4BF1-96BE-3BAE8FBAFE2E}" type="slidenum">
              <a:rPr lang="en-US" dirty="0"/>
              <a:t>5</a:t>
            </a:fld>
            <a:endParaRPr lang="en-US"/>
          </a:p>
        </p:txBody>
      </p:sp>
      <p:sp>
        <p:nvSpPr>
          <p:cNvPr id="7" name="TextBox 6">
            <a:extLst>
              <a:ext uri="{FF2B5EF4-FFF2-40B4-BE49-F238E27FC236}">
                <a16:creationId xmlns:a16="http://schemas.microsoft.com/office/drawing/2014/main" id="{AE058CA0-1AF9-53F6-2A61-053AC8612D04}"/>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6E008DB8-820A-546D-31D5-E505F4B22B09}"/>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8748EFC2-F3F2-59F1-D5F1-066715FFB497}"/>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a:extLst>
              <a:ext uri="{FF2B5EF4-FFF2-40B4-BE49-F238E27FC236}">
                <a16:creationId xmlns:a16="http://schemas.microsoft.com/office/drawing/2014/main" id="{E5D63532-195D-D2BF-C1F4-D2E09C727C75}"/>
              </a:ext>
            </a:extLst>
          </p:cNvPr>
          <p:cNvPicPr>
            <a:picLocks noChangeAspect="1"/>
          </p:cNvPicPr>
          <p:nvPr/>
        </p:nvPicPr>
        <p:blipFill>
          <a:blip r:embed="rId2"/>
          <a:stretch>
            <a:fillRect/>
          </a:stretch>
        </p:blipFill>
        <p:spPr>
          <a:xfrm>
            <a:off x="1958327" y="1525239"/>
            <a:ext cx="4529718" cy="5153892"/>
          </a:xfrm>
          <a:prstGeom prst="rect">
            <a:avLst/>
          </a:prstGeom>
        </p:spPr>
      </p:pic>
      <p:pic>
        <p:nvPicPr>
          <p:cNvPr id="11" name="Picture 10">
            <a:extLst>
              <a:ext uri="{FF2B5EF4-FFF2-40B4-BE49-F238E27FC236}">
                <a16:creationId xmlns:a16="http://schemas.microsoft.com/office/drawing/2014/main" id="{0EDE15AE-C16D-42A4-898B-D0A463A18EDF}"/>
              </a:ext>
            </a:extLst>
          </p:cNvPr>
          <p:cNvPicPr>
            <a:picLocks noChangeAspect="1"/>
          </p:cNvPicPr>
          <p:nvPr/>
        </p:nvPicPr>
        <p:blipFill>
          <a:blip r:embed="rId3"/>
          <a:stretch>
            <a:fillRect/>
          </a:stretch>
        </p:blipFill>
        <p:spPr>
          <a:xfrm>
            <a:off x="7096606" y="1525240"/>
            <a:ext cx="4623473" cy="5153891"/>
          </a:xfrm>
          <a:prstGeom prst="rect">
            <a:avLst/>
          </a:prstGeom>
        </p:spPr>
      </p:pic>
      <p:sp>
        <p:nvSpPr>
          <p:cNvPr id="12" name="Title 1">
            <a:extLst>
              <a:ext uri="{FF2B5EF4-FFF2-40B4-BE49-F238E27FC236}">
                <a16:creationId xmlns:a16="http://schemas.microsoft.com/office/drawing/2014/main" id="{877D2B68-8D57-3814-E28A-5C9BBE2B0868}"/>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22261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E65C-C20E-A297-4B67-8FBE643C588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032D7DC8-C99F-033D-E9CE-6AD9D362788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4BEAB9FE-DC9F-02B2-9A90-4D6655F13A60}"/>
              </a:ext>
            </a:extLst>
          </p:cNvPr>
          <p:cNvSpPr>
            <a:spLocks noGrp="1"/>
          </p:cNvSpPr>
          <p:nvPr>
            <p:ph type="sldNum" sz="quarter" idx="16"/>
          </p:nvPr>
        </p:nvSpPr>
        <p:spPr/>
        <p:txBody>
          <a:bodyPr/>
          <a:lstStyle/>
          <a:p>
            <a:fld id="{5E0677F5-4A8A-4BF1-96BE-3BAE8FBAFE2E}" type="slidenum">
              <a:rPr lang="en-US" dirty="0"/>
              <a:t>6</a:t>
            </a:fld>
            <a:endParaRPr lang="en-US"/>
          </a:p>
        </p:txBody>
      </p:sp>
      <p:sp>
        <p:nvSpPr>
          <p:cNvPr id="7" name="TextBox 6">
            <a:extLst>
              <a:ext uri="{FF2B5EF4-FFF2-40B4-BE49-F238E27FC236}">
                <a16:creationId xmlns:a16="http://schemas.microsoft.com/office/drawing/2014/main" id="{C98DDA0B-FDBC-EA8C-BC9E-78A901469D99}"/>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FADB77E2-EBF9-D240-065E-86A5FDAC63D7}"/>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3A3FAF0E-EB48-7701-7E89-2789FEE98E8B}"/>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1" name="Picture 10">
            <a:extLst>
              <a:ext uri="{FF2B5EF4-FFF2-40B4-BE49-F238E27FC236}">
                <a16:creationId xmlns:a16="http://schemas.microsoft.com/office/drawing/2014/main" id="{0F70D463-AB54-FBED-891D-F4B9633231F8}"/>
              </a:ext>
            </a:extLst>
          </p:cNvPr>
          <p:cNvPicPr>
            <a:picLocks noChangeAspect="1"/>
          </p:cNvPicPr>
          <p:nvPr/>
        </p:nvPicPr>
        <p:blipFill>
          <a:blip r:embed="rId2"/>
          <a:stretch>
            <a:fillRect/>
          </a:stretch>
        </p:blipFill>
        <p:spPr>
          <a:xfrm>
            <a:off x="2061040" y="1481540"/>
            <a:ext cx="4623473" cy="5153891"/>
          </a:xfrm>
          <a:prstGeom prst="rect">
            <a:avLst/>
          </a:prstGeom>
        </p:spPr>
      </p:pic>
      <p:sp>
        <p:nvSpPr>
          <p:cNvPr id="12" name="Title 1">
            <a:extLst>
              <a:ext uri="{FF2B5EF4-FFF2-40B4-BE49-F238E27FC236}">
                <a16:creationId xmlns:a16="http://schemas.microsoft.com/office/drawing/2014/main" id="{F7521B73-EFB1-C876-211D-4C0FA25844D6}"/>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pic>
        <p:nvPicPr>
          <p:cNvPr id="2" name="Picture 1">
            <a:extLst>
              <a:ext uri="{FF2B5EF4-FFF2-40B4-BE49-F238E27FC236}">
                <a16:creationId xmlns:a16="http://schemas.microsoft.com/office/drawing/2014/main" id="{153C8D30-D007-D686-C49A-3010AE0945B9}"/>
              </a:ext>
            </a:extLst>
          </p:cNvPr>
          <p:cNvPicPr>
            <a:picLocks noChangeAspect="1"/>
          </p:cNvPicPr>
          <p:nvPr/>
        </p:nvPicPr>
        <p:blipFill>
          <a:blip r:embed="rId3"/>
          <a:stretch>
            <a:fillRect/>
          </a:stretch>
        </p:blipFill>
        <p:spPr>
          <a:xfrm>
            <a:off x="7012169" y="1481539"/>
            <a:ext cx="4828284" cy="5153891"/>
          </a:xfrm>
          <a:prstGeom prst="rect">
            <a:avLst/>
          </a:prstGeom>
        </p:spPr>
      </p:pic>
    </p:spTree>
    <p:extLst>
      <p:ext uri="{BB962C8B-B14F-4D97-AF65-F5344CB8AC3E}">
        <p14:creationId xmlns:p14="http://schemas.microsoft.com/office/powerpoint/2010/main" val="16373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71FC857-9EA6-6E76-D58C-10204D6A5AE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7CE3C2E9-162A-020D-7C17-F065A0631542}"/>
              </a:ext>
            </a:extLst>
          </p:cNvPr>
          <p:cNvSpPr>
            <a:spLocks noGrp="1"/>
          </p:cNvSpPr>
          <p:nvPr>
            <p:ph type="sldNum" sz="quarter" idx="16"/>
          </p:nvPr>
        </p:nvSpPr>
        <p:spPr/>
        <p:txBody>
          <a:bodyPr/>
          <a:lstStyle/>
          <a:p>
            <a:fld id="{5E0677F5-4A8A-4BF1-96BE-3BAE8FBAFE2E}" type="slidenum">
              <a:rPr lang="en-US" dirty="0"/>
              <a:t>7</a:t>
            </a:fld>
            <a:endParaRPr lang="en-US"/>
          </a:p>
        </p:txBody>
      </p:sp>
      <p:sp>
        <p:nvSpPr>
          <p:cNvPr id="5" name="Content Placeholder 4">
            <a:extLst>
              <a:ext uri="{FF2B5EF4-FFF2-40B4-BE49-F238E27FC236}">
                <a16:creationId xmlns:a16="http://schemas.microsoft.com/office/drawing/2014/main" id="{7EC5BC0C-0994-26C8-1AE8-43DB564131EB}"/>
              </a:ext>
            </a:extLst>
          </p:cNvPr>
          <p:cNvSpPr>
            <a:spLocks noGrp="1"/>
          </p:cNvSpPr>
          <p:nvPr>
            <p:ph sz="quarter" idx="13"/>
          </p:nvPr>
        </p:nvSpPr>
        <p:spPr>
          <a:xfrm>
            <a:off x="3741490" y="947956"/>
            <a:ext cx="8239173" cy="5910044"/>
          </a:xfrm>
        </p:spPr>
        <p:txBody>
          <a:bodyPr>
            <a:normAutofit/>
          </a:bodyPr>
          <a:lstStyle/>
          <a:p>
            <a:pPr marL="285750" indent="-285750">
              <a:buFont typeface="Arial" panose="020B0604020202020204" pitchFamily="34" charset="0"/>
              <a:buChar char="•"/>
            </a:pPr>
            <a:r>
              <a:rPr lang="en-US" sz="2000" dirty="0"/>
              <a:t>Diverse abilities</a:t>
            </a:r>
          </a:p>
          <a:p>
            <a:pPr marL="285750" indent="-285750">
              <a:buFont typeface="Arial" panose="020B0604020202020204" pitchFamily="34" charset="0"/>
              <a:buChar char="•"/>
            </a:pPr>
            <a:r>
              <a:rPr lang="en-US" sz="2000" dirty="0"/>
              <a:t>Different educational backgrounds and technical skills</a:t>
            </a:r>
          </a:p>
          <a:p>
            <a:pPr marL="285750" indent="-285750">
              <a:buFont typeface="Arial" panose="020B0604020202020204" pitchFamily="34" charset="0"/>
              <a:buChar char="•"/>
            </a:pPr>
            <a:r>
              <a:rPr lang="en-US" sz="2000" dirty="0"/>
              <a:t>Audience</a:t>
            </a:r>
          </a:p>
          <a:p>
            <a:pPr marL="285750" indent="-285750">
              <a:buFont typeface="Arial" panose="020B0604020202020204" pitchFamily="34" charset="0"/>
              <a:buChar char="•"/>
            </a:pPr>
            <a:r>
              <a:rPr lang="en-US" sz="2000" dirty="0"/>
              <a:t>Take into account the needs of the user</a:t>
            </a:r>
          </a:p>
          <a:p>
            <a:pPr marL="285750" indent="-285750">
              <a:buFont typeface="Arial" panose="020B0604020202020204" pitchFamily="34" charset="0"/>
              <a:buChar char="•"/>
            </a:pPr>
            <a:r>
              <a:rPr lang="en-US" sz="2000" dirty="0"/>
              <a:t>Don’t overcomplicate</a:t>
            </a:r>
          </a:p>
          <a:p>
            <a:pPr marL="285750" indent="-285750">
              <a:buFont typeface="Arial" panose="020B0604020202020204" pitchFamily="34" charset="0"/>
              <a:buChar char="•"/>
            </a:pPr>
            <a:r>
              <a:rPr lang="en-US" sz="2000" dirty="0"/>
              <a:t>Use text to label, introduce, explain, reinforce, highlight, recommend, tell a story.</a:t>
            </a:r>
          </a:p>
          <a:p>
            <a:endParaRPr lang="en-US" sz="2000" dirty="0"/>
          </a:p>
          <a:p>
            <a:r>
              <a:rPr lang="en-US" sz="2000" dirty="0"/>
              <a:t>	“ Don’t assume that two different people looking at the same data 	visualization will draw the same conclusion.  If there is a 	conclusion you want your audience to reach, state it in words.”</a:t>
            </a:r>
          </a:p>
          <a:p>
            <a:r>
              <a:rPr lang="en-US" sz="2000" dirty="0"/>
              <a:t>						— Cole Knaflic</a:t>
            </a:r>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63C3A5E4-352A-CFD5-971A-212FC49F1176}"/>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6F937B8A-DE36-DBCA-AFDA-4BCACBB9C3BB}"/>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A43A9FB9-46D5-8596-90AF-B85AB93F8D62}"/>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301E3BF2-7F92-C21D-2C51-C7034219E8C2}"/>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spTree>
    <p:extLst>
      <p:ext uri="{BB962C8B-B14F-4D97-AF65-F5344CB8AC3E}">
        <p14:creationId xmlns:p14="http://schemas.microsoft.com/office/powerpoint/2010/main" val="1905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7AF1-D95E-D86E-D08F-A2722CBD6D90}"/>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14A73B2-6902-E437-F21E-7F08B37DEF00}"/>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F18777D0-AEA0-3FA1-1389-83A5FF02E84D}"/>
              </a:ext>
            </a:extLst>
          </p:cNvPr>
          <p:cNvSpPr>
            <a:spLocks noGrp="1"/>
          </p:cNvSpPr>
          <p:nvPr>
            <p:ph type="sldNum" sz="quarter" idx="16"/>
          </p:nvPr>
        </p:nvSpPr>
        <p:spPr/>
        <p:txBody>
          <a:bodyPr/>
          <a:lstStyle/>
          <a:p>
            <a:fld id="{5E0677F5-4A8A-4BF1-96BE-3BAE8FBAFE2E}" type="slidenum">
              <a:rPr lang="en-US" dirty="0"/>
              <a:t>8</a:t>
            </a:fld>
            <a:endParaRPr lang="en-US"/>
          </a:p>
        </p:txBody>
      </p:sp>
      <p:sp>
        <p:nvSpPr>
          <p:cNvPr id="7" name="TextBox 6">
            <a:extLst>
              <a:ext uri="{FF2B5EF4-FFF2-40B4-BE49-F238E27FC236}">
                <a16:creationId xmlns:a16="http://schemas.microsoft.com/office/drawing/2014/main" id="{6726AC10-643C-AA03-AFE2-6AF0597B6CB9}"/>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379727D7-BBA3-21E8-C8F3-442E25711F87}"/>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3E180728-DD0E-63FD-567D-88647518269C}"/>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8D234A99-6D95-4AB6-816B-A926FFF07514}"/>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11" name="Picture 10">
            <a:extLst>
              <a:ext uri="{FF2B5EF4-FFF2-40B4-BE49-F238E27FC236}">
                <a16:creationId xmlns:a16="http://schemas.microsoft.com/office/drawing/2014/main" id="{58156050-CA3D-EAF1-8172-AC684AA1BB3B}"/>
              </a:ext>
            </a:extLst>
          </p:cNvPr>
          <p:cNvPicPr>
            <a:picLocks noChangeAspect="1"/>
          </p:cNvPicPr>
          <p:nvPr/>
        </p:nvPicPr>
        <p:blipFill>
          <a:blip r:embed="rId3"/>
          <a:stretch>
            <a:fillRect/>
          </a:stretch>
        </p:blipFill>
        <p:spPr>
          <a:xfrm>
            <a:off x="4403304" y="869738"/>
            <a:ext cx="7316775" cy="5840456"/>
          </a:xfrm>
          <a:prstGeom prst="rect">
            <a:avLst/>
          </a:prstGeom>
        </p:spPr>
      </p:pic>
    </p:spTree>
    <p:extLst>
      <p:ext uri="{BB962C8B-B14F-4D97-AF65-F5344CB8AC3E}">
        <p14:creationId xmlns:p14="http://schemas.microsoft.com/office/powerpoint/2010/main" val="72495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4B36-9B00-D17D-3D11-D3EC6B41A54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3A3FC5D-38A7-6106-D99B-E377EAAB508F}"/>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338E1671-51C7-C5B3-CDEE-1655EF8B3891}"/>
              </a:ext>
            </a:extLst>
          </p:cNvPr>
          <p:cNvSpPr>
            <a:spLocks noGrp="1"/>
          </p:cNvSpPr>
          <p:nvPr>
            <p:ph type="sldNum" sz="quarter" idx="16"/>
          </p:nvPr>
        </p:nvSpPr>
        <p:spPr/>
        <p:txBody>
          <a:bodyPr/>
          <a:lstStyle/>
          <a:p>
            <a:fld id="{5E0677F5-4A8A-4BF1-96BE-3BAE8FBAFE2E}" type="slidenum">
              <a:rPr lang="en-US" dirty="0"/>
              <a:t>9</a:t>
            </a:fld>
            <a:endParaRPr lang="en-US"/>
          </a:p>
        </p:txBody>
      </p:sp>
      <p:sp>
        <p:nvSpPr>
          <p:cNvPr id="7" name="TextBox 6">
            <a:extLst>
              <a:ext uri="{FF2B5EF4-FFF2-40B4-BE49-F238E27FC236}">
                <a16:creationId xmlns:a16="http://schemas.microsoft.com/office/drawing/2014/main" id="{84000C52-9685-6BBB-2FEA-B906EDF58E0B}"/>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C748431A-A4A5-6CFA-9D41-04577CB28023}"/>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0DC1195-0309-3E49-0AFD-EF57C13F15EA}"/>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123AFBDA-99A7-7B72-CF40-905E85DD1D5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C44D6088-A9CF-9A2E-DA70-0448707536A2}"/>
              </a:ext>
            </a:extLst>
          </p:cNvPr>
          <p:cNvPicPr>
            <a:picLocks noChangeAspect="1"/>
          </p:cNvPicPr>
          <p:nvPr/>
        </p:nvPicPr>
        <p:blipFill>
          <a:blip r:embed="rId3"/>
          <a:stretch>
            <a:fillRect/>
          </a:stretch>
        </p:blipFill>
        <p:spPr>
          <a:xfrm>
            <a:off x="3770153" y="1627786"/>
            <a:ext cx="7772400" cy="4424548"/>
          </a:xfrm>
          <a:prstGeom prst="rect">
            <a:avLst/>
          </a:prstGeom>
        </p:spPr>
      </p:pic>
    </p:spTree>
    <p:extLst>
      <p:ext uri="{BB962C8B-B14F-4D97-AF65-F5344CB8AC3E}">
        <p14:creationId xmlns:p14="http://schemas.microsoft.com/office/powerpoint/2010/main" val="162581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A4ED-4C1F-7643-12B7-9B8DB8BDF98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CF562BA-0B60-4860-2684-8B711C71EC0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B9B36011-6662-B612-B011-9B396D7C14AB}"/>
              </a:ext>
            </a:extLst>
          </p:cNvPr>
          <p:cNvSpPr>
            <a:spLocks noGrp="1"/>
          </p:cNvSpPr>
          <p:nvPr>
            <p:ph type="sldNum" sz="quarter" idx="16"/>
          </p:nvPr>
        </p:nvSpPr>
        <p:spPr/>
        <p:txBody>
          <a:bodyPr/>
          <a:lstStyle/>
          <a:p>
            <a:fld id="{5E0677F5-4A8A-4BF1-96BE-3BAE8FBAFE2E}" type="slidenum">
              <a:rPr lang="en-US" dirty="0"/>
              <a:t>10</a:t>
            </a:fld>
            <a:endParaRPr lang="en-US"/>
          </a:p>
        </p:txBody>
      </p:sp>
      <p:sp>
        <p:nvSpPr>
          <p:cNvPr id="7" name="TextBox 6">
            <a:extLst>
              <a:ext uri="{FF2B5EF4-FFF2-40B4-BE49-F238E27FC236}">
                <a16:creationId xmlns:a16="http://schemas.microsoft.com/office/drawing/2014/main" id="{05294F00-ADDD-5C6D-45F8-0469C3B88098}"/>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E57DCEE2-B8D7-C7AE-09AD-5853035671A8}"/>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E5808F31-8278-659D-B30B-9B5CB74D2755}"/>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D704C17B-EDA2-E890-E2B4-CD1589366249}"/>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8CBC268E-BE73-6CB7-D0B2-9CD3E766CB2A}"/>
              </a:ext>
            </a:extLst>
          </p:cNvPr>
          <p:cNvPicPr>
            <a:picLocks noChangeAspect="1"/>
          </p:cNvPicPr>
          <p:nvPr/>
        </p:nvPicPr>
        <p:blipFill>
          <a:blip r:embed="rId3"/>
          <a:stretch>
            <a:fillRect/>
          </a:stretch>
        </p:blipFill>
        <p:spPr>
          <a:xfrm>
            <a:off x="3947679" y="933123"/>
            <a:ext cx="7772400" cy="5654135"/>
          </a:xfrm>
          <a:prstGeom prst="rect">
            <a:avLst/>
          </a:prstGeom>
        </p:spPr>
      </p:pic>
    </p:spTree>
    <p:extLst>
      <p:ext uri="{BB962C8B-B14F-4D97-AF65-F5344CB8AC3E}">
        <p14:creationId xmlns:p14="http://schemas.microsoft.com/office/powerpoint/2010/main" val="216697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523D-829A-7AD0-EA7D-6EDC4721354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90F7671-687F-281A-333E-0A5795A6ED4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14307109-1A50-BF3E-56B5-088220BD8A68}"/>
              </a:ext>
            </a:extLst>
          </p:cNvPr>
          <p:cNvSpPr>
            <a:spLocks noGrp="1"/>
          </p:cNvSpPr>
          <p:nvPr>
            <p:ph type="sldNum" sz="quarter" idx="16"/>
          </p:nvPr>
        </p:nvSpPr>
        <p:spPr/>
        <p:txBody>
          <a:bodyPr/>
          <a:lstStyle/>
          <a:p>
            <a:fld id="{5E0677F5-4A8A-4BF1-96BE-3BAE8FBAFE2E}" type="slidenum">
              <a:rPr lang="en-US" dirty="0"/>
              <a:t>11</a:t>
            </a:fld>
            <a:endParaRPr lang="en-US"/>
          </a:p>
        </p:txBody>
      </p:sp>
      <p:sp>
        <p:nvSpPr>
          <p:cNvPr id="5" name="Content Placeholder 4">
            <a:extLst>
              <a:ext uri="{FF2B5EF4-FFF2-40B4-BE49-F238E27FC236}">
                <a16:creationId xmlns:a16="http://schemas.microsoft.com/office/drawing/2014/main" id="{E54BF589-BF48-84C2-565E-AC17751AC2A1}"/>
              </a:ext>
            </a:extLst>
          </p:cNvPr>
          <p:cNvSpPr>
            <a:spLocks noGrp="1"/>
          </p:cNvSpPr>
          <p:nvPr>
            <p:ph sz="quarter" idx="13"/>
          </p:nvPr>
        </p:nvSpPr>
        <p:spPr>
          <a:xfrm>
            <a:off x="3632433" y="947956"/>
            <a:ext cx="8348231" cy="5910044"/>
          </a:xfrm>
        </p:spPr>
        <p:txBody>
          <a:bodyPr>
            <a:normAutofit/>
          </a:bodyPr>
          <a:lstStyle/>
          <a:p>
            <a:r>
              <a:rPr lang="en-US" sz="2000" dirty="0"/>
              <a:t>Make it pretty</a:t>
            </a:r>
          </a:p>
          <a:p>
            <a:r>
              <a:rPr lang="en-US" sz="2000" dirty="0"/>
              <a:t>	“Studies have shown that more aesthetic designs are not only 	perceived as easier to use, but also more readily accepted and 	used over time, promote creative thinking and problem solving, 	and foster positive relationships, making people more tolerant of 	problems with designs.”</a:t>
            </a:r>
          </a:p>
          <a:p>
            <a:r>
              <a:rPr lang="en-US" sz="2000" dirty="0"/>
              <a:t>						— Cole Knaflic</a:t>
            </a:r>
          </a:p>
          <a:p>
            <a:endParaRPr lang="en-US" sz="2000" dirty="0"/>
          </a:p>
          <a:p>
            <a:pPr marL="342900" indent="-342900">
              <a:buFont typeface="Arial" panose="020B0604020202020204" pitchFamily="34" charset="0"/>
              <a:buChar char="•"/>
            </a:pPr>
            <a:r>
              <a:rPr lang="en-US" sz="2000" dirty="0"/>
              <a:t>Use color sparingly and strategically to highlight</a:t>
            </a:r>
          </a:p>
          <a:p>
            <a:pPr marL="342900" indent="-342900">
              <a:buFont typeface="Arial" panose="020B0604020202020204" pitchFamily="34" charset="0"/>
              <a:buChar char="•"/>
            </a:pPr>
            <a:r>
              <a:rPr lang="en-US" sz="2000" dirty="0"/>
              <a:t>Alignment</a:t>
            </a:r>
          </a:p>
          <a:p>
            <a:pPr marL="342900" indent="-342900">
              <a:buFont typeface="Arial" panose="020B0604020202020204" pitchFamily="34" charset="0"/>
              <a:buChar char="•"/>
            </a:pPr>
            <a:r>
              <a:rPr lang="en-US" sz="2000" dirty="0"/>
              <a:t>Leverage white space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72754AE0-F5E7-9203-C826-DD754ABB530C}"/>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330C95C2-C628-EFDD-762D-8EFD41F79DE8}"/>
              </a:ext>
            </a:extLst>
          </p:cNvPr>
          <p:cNvSpPr>
            <a:spLocks noGrp="1"/>
          </p:cNvSpPr>
          <p:nvPr>
            <p:ph type="title"/>
          </p:nvPr>
        </p:nvSpPr>
        <p:spPr>
          <a:xfrm>
            <a:off x="211337" y="869738"/>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6E48EE5D-A947-753C-4BBF-9FE5AAB12854}"/>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BD37BBB-298E-6835-A29D-CEE7EC564FD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2974070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9734-400F-F59B-CB0D-93B2123E1D0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CEE9E0CA-0041-FF9E-A57C-3743B47280B8}"/>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FDA39A5-6D4B-D3D4-575B-41692B367887}"/>
              </a:ext>
            </a:extLst>
          </p:cNvPr>
          <p:cNvSpPr>
            <a:spLocks noGrp="1"/>
          </p:cNvSpPr>
          <p:nvPr>
            <p:ph type="sldNum" sz="quarter" idx="16"/>
          </p:nvPr>
        </p:nvSpPr>
        <p:spPr/>
        <p:txBody>
          <a:bodyPr/>
          <a:lstStyle/>
          <a:p>
            <a:fld id="{5E0677F5-4A8A-4BF1-96BE-3BAE8FBAFE2E}" type="slidenum">
              <a:rPr lang="en-US" dirty="0"/>
              <a:t>12</a:t>
            </a:fld>
            <a:endParaRPr lang="en-US"/>
          </a:p>
        </p:txBody>
      </p:sp>
      <p:sp>
        <p:nvSpPr>
          <p:cNvPr id="5" name="Content Placeholder 4">
            <a:extLst>
              <a:ext uri="{FF2B5EF4-FFF2-40B4-BE49-F238E27FC236}">
                <a16:creationId xmlns:a16="http://schemas.microsoft.com/office/drawing/2014/main" id="{FD190920-C6D3-C32D-ECEF-11D140558E39}"/>
              </a:ext>
            </a:extLst>
          </p:cNvPr>
          <p:cNvSpPr>
            <a:spLocks noGrp="1"/>
          </p:cNvSpPr>
          <p:nvPr>
            <p:ph sz="quarter" idx="13"/>
          </p:nvPr>
        </p:nvSpPr>
        <p:spPr>
          <a:xfrm>
            <a:off x="3632433" y="947956"/>
            <a:ext cx="8348231" cy="5910044"/>
          </a:xfrm>
        </p:spPr>
        <p:txBody>
          <a:bodyPr>
            <a:normAutofit/>
          </a:bodyPr>
          <a:lstStyle/>
          <a:p>
            <a:r>
              <a:rPr lang="en-US" sz="2000" dirty="0"/>
              <a:t>Make it pretty</a:t>
            </a:r>
          </a:p>
          <a:p>
            <a:r>
              <a:rPr lang="en-US" sz="2000" dirty="0"/>
              <a:t>	“Studies have shown that more aesthetic designs are not only 	perceived as easier to use, but also more readily accepted and 	used over time, promote creative thinking and problem solving, 	and foster positive relationships, making people more tolerant of 	problems with designs.”</a:t>
            </a:r>
          </a:p>
          <a:p>
            <a:r>
              <a:rPr lang="en-US" sz="2000" dirty="0"/>
              <a:t>						— Cole Knaflic</a:t>
            </a:r>
          </a:p>
          <a:p>
            <a:endParaRPr lang="en-US" sz="2000" dirty="0"/>
          </a:p>
          <a:p>
            <a:pPr marL="342900" indent="-342900">
              <a:buFont typeface="Arial" panose="020B0604020202020204" pitchFamily="34" charset="0"/>
              <a:buChar char="•"/>
            </a:pPr>
            <a:r>
              <a:rPr lang="en-US" sz="2000" dirty="0"/>
              <a:t>Use color sparingly and strategically to highlight</a:t>
            </a:r>
          </a:p>
          <a:p>
            <a:pPr marL="342900" indent="-342900">
              <a:buFont typeface="Arial" panose="020B0604020202020204" pitchFamily="34" charset="0"/>
              <a:buChar char="•"/>
            </a:pPr>
            <a:r>
              <a:rPr lang="en-US" sz="2000" dirty="0"/>
              <a:t>Alignment</a:t>
            </a:r>
          </a:p>
          <a:p>
            <a:pPr marL="342900" indent="-342900">
              <a:buFont typeface="Arial" panose="020B0604020202020204" pitchFamily="34" charset="0"/>
              <a:buChar char="•"/>
            </a:pPr>
            <a:r>
              <a:rPr lang="en-US" sz="2000" dirty="0"/>
              <a:t>Leverage white space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BB0B4C4F-46F3-C2C4-7672-1A0A9CABD4E3}"/>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A6B93749-4C29-EF74-A309-A4C43BEC1C5E}"/>
              </a:ext>
            </a:extLst>
          </p:cNvPr>
          <p:cNvSpPr>
            <a:spLocks noGrp="1"/>
          </p:cNvSpPr>
          <p:nvPr>
            <p:ph type="title"/>
          </p:nvPr>
        </p:nvSpPr>
        <p:spPr>
          <a:xfrm>
            <a:off x="211337" y="869738"/>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B84B63D6-6B6F-6998-54D5-B8E313115FC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F570E77-EC0E-7FF6-387C-B3183E795F8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471317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3E60-3747-7A57-B310-B5B3820A8B65}"/>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900B3B28-5A13-882C-EFD0-48C00FA760A3}"/>
              </a:ext>
            </a:extLst>
          </p:cNvPr>
          <p:cNvSpPr>
            <a:spLocks noGrp="1"/>
          </p:cNvSpPr>
          <p:nvPr>
            <p:ph type="dt" sz="half" idx="14"/>
          </p:nvPr>
        </p:nvSpPr>
        <p:spPr/>
        <p:txBody>
          <a:bodyPr/>
          <a:lstStyle/>
          <a:p>
            <a:fld id="{04C92EA4-7927-494C-83BA-5DFE4B06A427}" type="datetime1">
              <a:rPr lang="en-US" smtClean="0"/>
              <a:t>10/7/26</a:t>
            </a:fld>
            <a:endParaRPr lang="en-US"/>
          </a:p>
        </p:txBody>
      </p:sp>
      <p:sp>
        <p:nvSpPr>
          <p:cNvPr id="4" name="Slide Number Placeholder 3">
            <a:extLst>
              <a:ext uri="{FF2B5EF4-FFF2-40B4-BE49-F238E27FC236}">
                <a16:creationId xmlns:a16="http://schemas.microsoft.com/office/drawing/2014/main" id="{5C09D452-EF8D-382E-F817-56DE43CE9B4A}"/>
              </a:ext>
            </a:extLst>
          </p:cNvPr>
          <p:cNvSpPr>
            <a:spLocks noGrp="1"/>
          </p:cNvSpPr>
          <p:nvPr>
            <p:ph type="sldNum" sz="quarter" idx="16"/>
          </p:nvPr>
        </p:nvSpPr>
        <p:spPr/>
        <p:txBody>
          <a:bodyPr/>
          <a:lstStyle/>
          <a:p>
            <a:fld id="{5E0677F5-4A8A-4BF1-96BE-3BAE8FBAFE2E}" type="slidenum">
              <a:rPr lang="en-US" smtClean="0"/>
              <a:t>13</a:t>
            </a:fld>
            <a:endParaRPr lang="en-US"/>
          </a:p>
        </p:txBody>
      </p:sp>
      <p:sp>
        <p:nvSpPr>
          <p:cNvPr id="5" name="Content Placeholder 4">
            <a:extLst>
              <a:ext uri="{FF2B5EF4-FFF2-40B4-BE49-F238E27FC236}">
                <a16:creationId xmlns:a16="http://schemas.microsoft.com/office/drawing/2014/main" id="{EA5EC2B0-8532-16D5-50E2-F43B9B800957}"/>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122116220"/>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Dark gradient">
      <a:majorFont>
        <a:latin typeface="Arial Nova Light"/>
        <a:ea typeface=""/>
        <a:cs typeface=""/>
      </a:majorFont>
      <a:minorFont>
        <a:latin typeface="Arial Nova Light"/>
        <a:ea typeface=""/>
        <a:cs typeface=""/>
      </a:minorFont>
    </a:fontScheme>
    <a:fmtScheme name="Dark gradien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6C0E157E-BBF9-45FB-91B2-9EEA263F6260}" vid="{4AA688F4-4384-4824-9BC0-914EFB7BEE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72</TotalTime>
  <Words>783</Words>
  <Application>Microsoft Macintosh PowerPoint</Application>
  <PresentationFormat>Widescreen</PresentationFormat>
  <Paragraphs>136</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Arial Nova Light</vt:lpstr>
      <vt:lpstr>Dark gradient</vt:lpstr>
      <vt:lpstr>PowerPoint Presentation</vt:lpstr>
      <vt:lpstr>      Cole Chapter 5                  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Ouspenskaia, Alissa I</cp:lastModifiedBy>
  <cp:revision>12</cp:revision>
  <dcterms:created xsi:type="dcterms:W3CDTF">2026-10-06T20:59:02Z</dcterms:created>
  <dcterms:modified xsi:type="dcterms:W3CDTF">2026-10-07T20:12:24Z</dcterms:modified>
</cp:coreProperties>
</file>